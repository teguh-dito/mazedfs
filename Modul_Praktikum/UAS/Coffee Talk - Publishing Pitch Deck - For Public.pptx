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Lst>
  <p:sldSz cy="5143500" cx="9144000"/>
  <p:notesSz cx="6858000" cy="9144000"/>
  <p:embeddedFontLst>
    <p:embeddedFont>
      <p:font typeface="Roboto"/>
      <p:regular r:id="rId37"/>
      <p:bold r:id="rId38"/>
      <p:italic r:id="rId39"/>
      <p:boldItalic r:id="rId40"/>
    </p:embeddedFont>
    <p:embeddedFont>
      <p:font typeface="Playfair Display"/>
      <p:regular r:id="rId41"/>
      <p:bold r:id="rId42"/>
      <p:italic r:id="rId43"/>
      <p:boldItalic r:id="rId44"/>
    </p:embeddedFont>
    <p:embeddedFont>
      <p:font typeface="Lato"/>
      <p:regular r:id="rId45"/>
      <p:bold r:id="rId46"/>
      <p:italic r:id="rId47"/>
      <p:boldItalic r:id="rId48"/>
    </p:embeddedFont>
    <p:embeddedFont>
      <p:font typeface="Merriweather"/>
      <p:regular r:id="rId49"/>
      <p:bold r:id="rId50"/>
      <p:italic r:id="rId51"/>
      <p:boldItalic r:id="rId5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A4A3A4"/>
          </p15:clr>
        </p15:guide>
        <p15:guide id="2" pos="1987">
          <p15:clr>
            <a:srgbClr val="A4A3A4"/>
          </p15:clr>
        </p15:guide>
        <p15:guide id="3" pos="1987">
          <p15:clr>
            <a:srgbClr val="9AA0A6"/>
          </p15:clr>
        </p15:guide>
        <p15:guide id="4" pos="1987">
          <p15:clr>
            <a:srgbClr val="9AA0A6"/>
          </p15:clr>
        </p15:guide>
        <p15:guide id="5" orient="horz" pos="1704">
          <p15:clr>
            <a:srgbClr val="9AA0A6"/>
          </p15:clr>
        </p15:guide>
      </p15:sldGuideLst>
    </p:ext>
    <p:ext uri="GoogleSlidesCustomDataVersion2">
      <go:slidesCustomData xmlns:go="http://customooxmlschemas.google.com/" r:id="rId53" roundtripDataSignature="AMtx7mgy0PzY7Tv0U/Z9uonEZzZX7KB4i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B7F10064-7671-419F-B54A-93C9FE014743}">
  <a:tblStyle styleId="{B7F10064-7671-419F-B54A-93C9FE014743}"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 pos="1987"/>
        <p:guide pos="1987"/>
        <p:guide pos="1987"/>
        <p:guide pos="1704" orient="horz"/>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Roboto-boldItalic.fntdata"/><Relationship Id="rId42" Type="http://schemas.openxmlformats.org/officeDocument/2006/relationships/font" Target="fonts/PlayfairDisplay-bold.fntdata"/><Relationship Id="rId41" Type="http://schemas.openxmlformats.org/officeDocument/2006/relationships/font" Target="fonts/PlayfairDisplay-regular.fntdata"/><Relationship Id="rId44" Type="http://schemas.openxmlformats.org/officeDocument/2006/relationships/font" Target="fonts/PlayfairDisplay-boldItalic.fntdata"/><Relationship Id="rId43" Type="http://schemas.openxmlformats.org/officeDocument/2006/relationships/font" Target="fonts/PlayfairDisplay-italic.fntdata"/><Relationship Id="rId46" Type="http://schemas.openxmlformats.org/officeDocument/2006/relationships/font" Target="fonts/Lato-bold.fntdata"/><Relationship Id="rId45" Type="http://schemas.openxmlformats.org/officeDocument/2006/relationships/font" Target="fonts/Lato-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48" Type="http://schemas.openxmlformats.org/officeDocument/2006/relationships/font" Target="fonts/Lato-boldItalic.fntdata"/><Relationship Id="rId47" Type="http://schemas.openxmlformats.org/officeDocument/2006/relationships/font" Target="fonts/Lato-italic.fntdata"/><Relationship Id="rId49" Type="http://schemas.openxmlformats.org/officeDocument/2006/relationships/font" Target="fonts/Merriweather-regular.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font" Target="fonts/Roboto-regular.fntdata"/><Relationship Id="rId36" Type="http://schemas.openxmlformats.org/officeDocument/2006/relationships/slide" Target="slides/slide30.xml"/><Relationship Id="rId39" Type="http://schemas.openxmlformats.org/officeDocument/2006/relationships/font" Target="fonts/Roboto-italic.fntdata"/><Relationship Id="rId38" Type="http://schemas.openxmlformats.org/officeDocument/2006/relationships/font" Target="fonts/Roboto-bold.fntdata"/><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font" Target="fonts/Merriweather-italic.fntdata"/><Relationship Id="rId50" Type="http://schemas.openxmlformats.org/officeDocument/2006/relationships/font" Target="fonts/Merriweather-bold.fntdata"/><Relationship Id="rId53" Type="http://customschemas.google.com/relationships/presentationmetadata" Target="metadata"/><Relationship Id="rId52" Type="http://schemas.openxmlformats.org/officeDocument/2006/relationships/font" Target="fonts/Merriweather-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 name="Shape 59"/>
        <p:cNvGrpSpPr/>
        <p:nvPr/>
      </p:nvGrpSpPr>
      <p:grpSpPr>
        <a:xfrm>
          <a:off x="0" y="0"/>
          <a:ext cx="0" cy="0"/>
          <a:chOff x="0" y="0"/>
          <a:chExt cx="0" cy="0"/>
        </a:xfrm>
      </p:grpSpPr>
      <p:sp>
        <p:nvSpPr>
          <p:cNvPr id="60" name="Google Shape;60;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 name="Google Shape;61;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1" name="Google Shape;7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1" name="Google Shape;81;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 name="Google Shape;9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0" name="Google Shape;100;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 name="Google Shape;10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 name="Google Shape;11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5" name="Google Shape;125;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5" name="Google Shape;135;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5" name="Google Shape;155;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5" name="Google Shape;165;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3" name="Google Shape;173;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p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6" name="Google Shape;18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2" name="Google Shape;212;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8" name="Shape 218"/>
        <p:cNvGrpSpPr/>
        <p:nvPr/>
      </p:nvGrpSpPr>
      <p:grpSpPr>
        <a:xfrm>
          <a:off x="0" y="0"/>
          <a:ext cx="0" cy="0"/>
          <a:chOff x="0" y="0"/>
          <a:chExt cx="0" cy="0"/>
        </a:xfrm>
      </p:grpSpPr>
      <p:sp>
        <p:nvSpPr>
          <p:cNvPr id="219" name="Google Shape;219;p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0" name="Google Shape;22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1" name="Shape 231"/>
        <p:cNvGrpSpPr/>
        <p:nvPr/>
      </p:nvGrpSpPr>
      <p:grpSpPr>
        <a:xfrm>
          <a:off x="0" y="0"/>
          <a:ext cx="0" cy="0"/>
          <a:chOff x="0" y="0"/>
          <a:chExt cx="0" cy="0"/>
        </a:xfrm>
      </p:grpSpPr>
      <p:sp>
        <p:nvSpPr>
          <p:cNvPr id="232" name="Google Shape;232;p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3" name="Google Shape;233;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2" name="Google Shape;242;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2" name="Google Shape;262;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p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1" name="Google Shape;271;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9" name="Google Shape;279;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p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4" name="Google Shape;334;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2" name="Google Shape;34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9" name="Shape 349"/>
        <p:cNvGrpSpPr/>
        <p:nvPr/>
      </p:nvGrpSpPr>
      <p:grpSpPr>
        <a:xfrm>
          <a:off x="0" y="0"/>
          <a:ext cx="0" cy="0"/>
          <a:chOff x="0" y="0"/>
          <a:chExt cx="0" cy="0"/>
        </a:xfrm>
      </p:grpSpPr>
      <p:sp>
        <p:nvSpPr>
          <p:cNvPr id="350" name="Google Shape;350;p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1" name="Google Shape;351;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7" name="Shape 357"/>
        <p:cNvGrpSpPr/>
        <p:nvPr/>
      </p:nvGrpSpPr>
      <p:grpSpPr>
        <a:xfrm>
          <a:off x="0" y="0"/>
          <a:ext cx="0" cy="0"/>
          <a:chOff x="0" y="0"/>
          <a:chExt cx="0" cy="0"/>
        </a:xfrm>
      </p:grpSpPr>
      <p:sp>
        <p:nvSpPr>
          <p:cNvPr id="358" name="Google Shape;358;p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9" name="Google Shape;359;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7" name="Google Shape;367;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32"/>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32"/>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3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3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16" name="Google Shape;16;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34"/>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35"/>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3" name="Google Shape;23;p35"/>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24" name="Google Shape;24;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36"/>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3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37"/>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37"/>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1600"/>
              </a:spcBef>
              <a:spcAft>
                <a:spcPts val="0"/>
              </a:spcAft>
              <a:buSzPts val="1200"/>
              <a:buChar char="○"/>
              <a:defRPr sz="1200"/>
            </a:lvl2pPr>
            <a:lvl3pPr indent="-304800" lvl="2" marL="1371600" algn="l">
              <a:lnSpc>
                <a:spcPct val="115000"/>
              </a:lnSpc>
              <a:spcBef>
                <a:spcPts val="1600"/>
              </a:spcBef>
              <a:spcAft>
                <a:spcPts val="0"/>
              </a:spcAft>
              <a:buSzPts val="1200"/>
              <a:buChar char="■"/>
              <a:defRPr sz="1200"/>
            </a:lvl3pPr>
            <a:lvl4pPr indent="-304800" lvl="3" marL="1828800" algn="l">
              <a:lnSpc>
                <a:spcPct val="115000"/>
              </a:lnSpc>
              <a:spcBef>
                <a:spcPts val="1600"/>
              </a:spcBef>
              <a:spcAft>
                <a:spcPts val="0"/>
              </a:spcAft>
              <a:buSzPts val="1200"/>
              <a:buChar char="●"/>
              <a:defRPr sz="1200"/>
            </a:lvl4pPr>
            <a:lvl5pPr indent="-304800" lvl="4" marL="2286000" algn="l">
              <a:lnSpc>
                <a:spcPct val="115000"/>
              </a:lnSpc>
              <a:spcBef>
                <a:spcPts val="1600"/>
              </a:spcBef>
              <a:spcAft>
                <a:spcPts val="0"/>
              </a:spcAft>
              <a:buSzPts val="1200"/>
              <a:buChar char="○"/>
              <a:defRPr sz="1200"/>
            </a:lvl5pPr>
            <a:lvl6pPr indent="-304800" lvl="5" marL="2743200" algn="l">
              <a:lnSpc>
                <a:spcPct val="115000"/>
              </a:lnSpc>
              <a:spcBef>
                <a:spcPts val="1600"/>
              </a:spcBef>
              <a:spcAft>
                <a:spcPts val="0"/>
              </a:spcAft>
              <a:buSzPts val="1200"/>
              <a:buChar char="■"/>
              <a:defRPr sz="1200"/>
            </a:lvl6pPr>
            <a:lvl7pPr indent="-304800" lvl="6" marL="3200400" algn="l">
              <a:lnSpc>
                <a:spcPct val="115000"/>
              </a:lnSpc>
              <a:spcBef>
                <a:spcPts val="1600"/>
              </a:spcBef>
              <a:spcAft>
                <a:spcPts val="0"/>
              </a:spcAft>
              <a:buSzPts val="1200"/>
              <a:buChar char="●"/>
              <a:defRPr sz="1200"/>
            </a:lvl7pPr>
            <a:lvl8pPr indent="-304800" lvl="7" marL="3657600" algn="l">
              <a:lnSpc>
                <a:spcPct val="115000"/>
              </a:lnSpc>
              <a:spcBef>
                <a:spcPts val="1600"/>
              </a:spcBef>
              <a:spcAft>
                <a:spcPts val="0"/>
              </a:spcAft>
              <a:buSzPts val="1200"/>
              <a:buChar char="○"/>
              <a:defRPr sz="1200"/>
            </a:lvl8pPr>
            <a:lvl9pPr indent="-304800" lvl="8" marL="4114800" algn="l">
              <a:lnSpc>
                <a:spcPct val="115000"/>
              </a:lnSpc>
              <a:spcBef>
                <a:spcPts val="1600"/>
              </a:spcBef>
              <a:spcAft>
                <a:spcPts val="1600"/>
              </a:spcAft>
              <a:buSzPts val="1200"/>
              <a:buChar char="■"/>
              <a:defRPr sz="1200"/>
            </a:lvl9pPr>
          </a:lstStyle>
          <a:p/>
        </p:txBody>
      </p:sp>
      <p:sp>
        <p:nvSpPr>
          <p:cNvPr id="31" name="Google Shape;31;p3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8"/>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9"/>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9"/>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9"/>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1600"/>
              </a:spcBef>
              <a:spcAft>
                <a:spcPts val="0"/>
              </a:spcAft>
              <a:buSzPts val="1400"/>
              <a:buChar char="○"/>
              <a:defRPr/>
            </a:lvl2pPr>
            <a:lvl3pPr indent="-317500" lvl="2" marL="1371600" algn="l">
              <a:lnSpc>
                <a:spcPct val="115000"/>
              </a:lnSpc>
              <a:spcBef>
                <a:spcPts val="1600"/>
              </a:spcBef>
              <a:spcAft>
                <a:spcPts val="0"/>
              </a:spcAft>
              <a:buSzPts val="1400"/>
              <a:buChar char="■"/>
              <a:defRPr/>
            </a:lvl3pPr>
            <a:lvl4pPr indent="-317500" lvl="3" marL="1828800" algn="l">
              <a:lnSpc>
                <a:spcPct val="115000"/>
              </a:lnSpc>
              <a:spcBef>
                <a:spcPts val="1600"/>
              </a:spcBef>
              <a:spcAft>
                <a:spcPts val="0"/>
              </a:spcAft>
              <a:buSzPts val="1400"/>
              <a:buChar char="●"/>
              <a:defRPr/>
            </a:lvl4pPr>
            <a:lvl5pPr indent="-317500" lvl="4" marL="2286000" algn="l">
              <a:lnSpc>
                <a:spcPct val="115000"/>
              </a:lnSpc>
              <a:spcBef>
                <a:spcPts val="1600"/>
              </a:spcBef>
              <a:spcAft>
                <a:spcPts val="0"/>
              </a:spcAft>
              <a:buSzPts val="1400"/>
              <a:buChar char="○"/>
              <a:defRPr/>
            </a:lvl5pPr>
            <a:lvl6pPr indent="-317500" lvl="5" marL="2743200" algn="l">
              <a:lnSpc>
                <a:spcPct val="115000"/>
              </a:lnSpc>
              <a:spcBef>
                <a:spcPts val="1600"/>
              </a:spcBef>
              <a:spcAft>
                <a:spcPts val="0"/>
              </a:spcAft>
              <a:buSzPts val="1400"/>
              <a:buChar char="■"/>
              <a:defRPr/>
            </a:lvl6pPr>
            <a:lvl7pPr indent="-317500" lvl="6" marL="3200400" algn="l">
              <a:lnSpc>
                <a:spcPct val="115000"/>
              </a:lnSpc>
              <a:spcBef>
                <a:spcPts val="1600"/>
              </a:spcBef>
              <a:spcAft>
                <a:spcPts val="0"/>
              </a:spcAft>
              <a:buSzPts val="1400"/>
              <a:buChar char="●"/>
              <a:defRPr/>
            </a:lvl7pPr>
            <a:lvl8pPr indent="-317500" lvl="7" marL="3657600" algn="l">
              <a:lnSpc>
                <a:spcPct val="115000"/>
              </a:lnSpc>
              <a:spcBef>
                <a:spcPts val="1600"/>
              </a:spcBef>
              <a:spcAft>
                <a:spcPts val="0"/>
              </a:spcAft>
              <a:buSzPts val="1400"/>
              <a:buChar char="○"/>
              <a:defRPr/>
            </a:lvl8pPr>
            <a:lvl9pPr indent="-317500" lvl="8" marL="4114800" algn="l">
              <a:lnSpc>
                <a:spcPct val="115000"/>
              </a:lnSpc>
              <a:spcBef>
                <a:spcPts val="1600"/>
              </a:spcBef>
              <a:spcAft>
                <a:spcPts val="1600"/>
              </a:spcAft>
              <a:buSzPts val="1400"/>
              <a:buChar char="■"/>
              <a:defRPr/>
            </a:lvl9pPr>
          </a:lstStyle>
          <a:p/>
        </p:txBody>
      </p:sp>
      <p:sp>
        <p:nvSpPr>
          <p:cNvPr id="40" name="Google Shape;40;p3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40"/>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SzPts val="1800"/>
              <a:buNone/>
              <a:defRPr/>
            </a:lvl1pPr>
          </a:lstStyle>
          <a:p/>
        </p:txBody>
      </p:sp>
      <p:sp>
        <p:nvSpPr>
          <p:cNvPr id="43" name="Google Shape;43;p4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41"/>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41"/>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1600"/>
              </a:spcBef>
              <a:spcAft>
                <a:spcPts val="0"/>
              </a:spcAft>
              <a:buSzPts val="1400"/>
              <a:buChar char="○"/>
              <a:defRPr/>
            </a:lvl2pPr>
            <a:lvl3pPr indent="-317500" lvl="2" marL="1371600" algn="ctr">
              <a:lnSpc>
                <a:spcPct val="115000"/>
              </a:lnSpc>
              <a:spcBef>
                <a:spcPts val="1600"/>
              </a:spcBef>
              <a:spcAft>
                <a:spcPts val="0"/>
              </a:spcAft>
              <a:buSzPts val="1400"/>
              <a:buChar char="■"/>
              <a:defRPr/>
            </a:lvl3pPr>
            <a:lvl4pPr indent="-317500" lvl="3" marL="1828800" algn="ctr">
              <a:lnSpc>
                <a:spcPct val="115000"/>
              </a:lnSpc>
              <a:spcBef>
                <a:spcPts val="1600"/>
              </a:spcBef>
              <a:spcAft>
                <a:spcPts val="0"/>
              </a:spcAft>
              <a:buSzPts val="1400"/>
              <a:buChar char="●"/>
              <a:defRPr/>
            </a:lvl4pPr>
            <a:lvl5pPr indent="-317500" lvl="4" marL="2286000" algn="ctr">
              <a:lnSpc>
                <a:spcPct val="115000"/>
              </a:lnSpc>
              <a:spcBef>
                <a:spcPts val="1600"/>
              </a:spcBef>
              <a:spcAft>
                <a:spcPts val="0"/>
              </a:spcAft>
              <a:buSzPts val="1400"/>
              <a:buChar char="○"/>
              <a:defRPr/>
            </a:lvl5pPr>
            <a:lvl6pPr indent="-317500" lvl="5" marL="2743200" algn="ctr">
              <a:lnSpc>
                <a:spcPct val="115000"/>
              </a:lnSpc>
              <a:spcBef>
                <a:spcPts val="1600"/>
              </a:spcBef>
              <a:spcAft>
                <a:spcPts val="0"/>
              </a:spcAft>
              <a:buSzPts val="1400"/>
              <a:buChar char="■"/>
              <a:defRPr/>
            </a:lvl6pPr>
            <a:lvl7pPr indent="-317500" lvl="6" marL="3200400" algn="ctr">
              <a:lnSpc>
                <a:spcPct val="115000"/>
              </a:lnSpc>
              <a:spcBef>
                <a:spcPts val="1600"/>
              </a:spcBef>
              <a:spcAft>
                <a:spcPts val="0"/>
              </a:spcAft>
              <a:buSzPts val="1400"/>
              <a:buChar char="●"/>
              <a:defRPr/>
            </a:lvl7pPr>
            <a:lvl8pPr indent="-317500" lvl="7" marL="3657600" algn="ctr">
              <a:lnSpc>
                <a:spcPct val="115000"/>
              </a:lnSpc>
              <a:spcBef>
                <a:spcPts val="1600"/>
              </a:spcBef>
              <a:spcAft>
                <a:spcPts val="0"/>
              </a:spcAft>
              <a:buSzPts val="1400"/>
              <a:buChar char="○"/>
              <a:defRPr/>
            </a:lvl8pPr>
            <a:lvl9pPr indent="-317500" lvl="8" marL="4114800" algn="ctr">
              <a:lnSpc>
                <a:spcPct val="115000"/>
              </a:lnSpc>
              <a:spcBef>
                <a:spcPts val="1600"/>
              </a:spcBef>
              <a:spcAft>
                <a:spcPts val="1600"/>
              </a:spcAft>
              <a:buSzPts val="1400"/>
              <a:buChar char="■"/>
              <a:defRPr/>
            </a:lvl9pPr>
          </a:lstStyle>
          <a:p/>
        </p:txBody>
      </p:sp>
      <p:sp>
        <p:nvSpPr>
          <p:cNvPr id="47" name="Google Shape;47;p4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4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160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1600"/>
              </a:spcBef>
              <a:spcAft>
                <a:spcPts val="160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4.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hyperlink" Target="http://www.youtube.com/watch?v=Vi7m8Z9rZ1k" TargetMode="External"/><Relationship Id="rId5"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hyperlink" Target="http://www.youtube.com/watch?v=_UgIUz2APOw" TargetMode="External"/><Relationship Id="rId4" Type="http://schemas.openxmlformats.org/officeDocument/2006/relationships/image" Target="../media/image19.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10.png"/><Relationship Id="rId5" Type="http://schemas.openxmlformats.org/officeDocument/2006/relationships/hyperlink" Target="https://www.theguardian.com/games/2018/jul/26/chill-out-relaxing-video-games" TargetMode="External"/><Relationship Id="rId6" Type="http://schemas.openxmlformats.org/officeDocument/2006/relationships/hyperlink" Target="https://www.gamesindustry.biz/articles/2018-11-05-how-to-design-for-coziness-and-kindness"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1.png"/><Relationship Id="rId6" Type="http://schemas.openxmlformats.org/officeDocument/2006/relationships/image" Target="../media/image32.png"/><Relationship Id="rId7" Type="http://schemas.openxmlformats.org/officeDocument/2006/relationships/image" Target="../media/image8.png"/><Relationship Id="rId8"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5.png"/><Relationship Id="rId4"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31.png"/><Relationship Id="rId4" Type="http://schemas.openxmlformats.org/officeDocument/2006/relationships/image" Target="../media/image22.png"/><Relationship Id="rId5" Type="http://schemas.openxmlformats.org/officeDocument/2006/relationships/image" Target="../media/image2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4.png"/><Relationship Id="rId4" Type="http://schemas.openxmlformats.org/officeDocument/2006/relationships/image" Target="../media/image2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34.png"/><Relationship Id="rId4" Type="http://schemas.openxmlformats.org/officeDocument/2006/relationships/image" Target="../media/image35.png"/><Relationship Id="rId5" Type="http://schemas.openxmlformats.org/officeDocument/2006/relationships/image" Target="../media/image30.png"/></Relationships>
</file>

<file path=ppt/slides/_rels/slide22.xml.rels><?xml version="1.0" encoding="UTF-8" standalone="yes"?><Relationships xmlns="http://schemas.openxmlformats.org/package/2006/relationships"><Relationship Id="rId11" Type="http://schemas.openxmlformats.org/officeDocument/2006/relationships/hyperlink" Target="https://www.rockpapershotgun.com/2018/08/05/coffee-talk-demo-promises-gorgeous-laid-back-storytelling/#comments" TargetMode="External"/><Relationship Id="rId10" Type="http://schemas.openxmlformats.org/officeDocument/2006/relationships/hyperlink" Target="https://www.rockpapershotgun.com/2018/08/05/coffee-talk-demo-promises-gorgeous-laid-back-storytelling/#comments" TargetMode="External"/><Relationship Id="rId13" Type="http://schemas.openxmlformats.org/officeDocument/2006/relationships/hyperlink" Target="https://twitter.com/coffeetalk_game" TargetMode="External"/><Relationship Id="rId12" Type="http://schemas.openxmlformats.org/officeDocument/2006/relationships/hyperlink" Target="https://twitter.com/coffeetalk_game" TargetMode="External"/><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hyperlink" Target="https://kotaku.com/a-relaxing-game-where-you-serve-coffee-to-orcs-1828369447" TargetMode="External"/><Relationship Id="rId4" Type="http://schemas.openxmlformats.org/officeDocument/2006/relationships/hyperlink" Target="https://kotaku.com/a-relaxing-game-where-you-serve-coffee-to-orcs-1828369447" TargetMode="External"/><Relationship Id="rId9" Type="http://schemas.openxmlformats.org/officeDocument/2006/relationships/hyperlink" Target="https://www.rockpapershotgun.com/2018/08/05/coffee-talk-demo-promises-gorgeous-laid-back-storytelling/#comments" TargetMode="External"/><Relationship Id="rId15" Type="http://schemas.openxmlformats.org/officeDocument/2006/relationships/hyperlink" Target="https://twitter.com/tha_rami/status/1024284796296540160" TargetMode="External"/><Relationship Id="rId14" Type="http://schemas.openxmlformats.org/officeDocument/2006/relationships/hyperlink" Target="https://twitter.com/tha_rami/status/1024284796296540160" TargetMode="External"/><Relationship Id="rId16" Type="http://schemas.openxmlformats.org/officeDocument/2006/relationships/hyperlink" Target="https://twitter.com/tha_rami/status/1024284796296540160" TargetMode="External"/><Relationship Id="rId5" Type="http://schemas.openxmlformats.org/officeDocument/2006/relationships/hyperlink" Target="https://kotaku.com/a-relaxing-game-where-you-serve-coffee-to-orcs-1828369447" TargetMode="External"/><Relationship Id="rId6" Type="http://schemas.openxmlformats.org/officeDocument/2006/relationships/hyperlink" Target="https://www.pastemagazine.com/articles/2018/08/cozy-up-to-some-coffee-talk-the-value-of-comfortab.html" TargetMode="External"/><Relationship Id="rId7" Type="http://schemas.openxmlformats.org/officeDocument/2006/relationships/hyperlink" Target="https://www.pastemagazine.com/articles/2018/08/cozy-up-to-some-coffee-talk-the-value-of-comfortab.html" TargetMode="External"/><Relationship Id="rId8" Type="http://schemas.openxmlformats.org/officeDocument/2006/relationships/hyperlink" Target="https://www.pastemagazine.com/articles/2018/08/cozy-up-to-some-coffee-talk-the-value-of-comfortab.html"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27.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hyperlink" Target="https://store.steampowered.com/app/914800/Coffee_Talk/" TargetMode="External"/><Relationship Id="rId4" Type="http://schemas.openxmlformats.org/officeDocument/2006/relationships/hyperlink" Target="https://togeproductions.itch.io/coffee-talk"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4.png"/><Relationship Id="rId4" Type="http://schemas.openxmlformats.org/officeDocument/2006/relationships/image" Target="../media/image27.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4.png"/><Relationship Id="rId4" Type="http://schemas.openxmlformats.org/officeDocument/2006/relationships/hyperlink" Target="mailto:kris@togeproductions.com" TargetMode="External"/><Relationship Id="rId5" Type="http://schemas.openxmlformats.org/officeDocument/2006/relationships/hyperlink" Target="mailto:publishing@togeproductions.com" TargetMode="External"/><Relationship Id="rId6"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53" name="Shape 53"/>
        <p:cNvGrpSpPr/>
        <p:nvPr/>
      </p:nvGrpSpPr>
      <p:grpSpPr>
        <a:xfrm>
          <a:off x="0" y="0"/>
          <a:ext cx="0" cy="0"/>
          <a:chOff x="0" y="0"/>
          <a:chExt cx="0" cy="0"/>
        </a:xfrm>
      </p:grpSpPr>
      <p:pic>
        <p:nvPicPr>
          <p:cNvPr id="54" name="Google Shape;54;p1"/>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55" name="Google Shape;55;p1"/>
          <p:cNvSpPr txBox="1"/>
          <p:nvPr/>
        </p:nvSpPr>
        <p:spPr>
          <a:xfrm>
            <a:off x="962250" y="1959550"/>
            <a:ext cx="7258800" cy="1112100"/>
          </a:xfrm>
          <a:prstGeom prst="rect">
            <a:avLst/>
          </a:prstGeom>
          <a:noFill/>
          <a:ln>
            <a:noFill/>
          </a:ln>
          <a:effectLst>
            <a:outerShdw blurRad="57150" rotWithShape="0" algn="bl" dir="5400000" dist="19050">
              <a:srgbClr val="000000"/>
            </a:outerShdw>
          </a:effectLst>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0"/>
              <a:buFont typeface="Arial"/>
              <a:buNone/>
            </a:pPr>
            <a:r>
              <a:rPr b="0" i="1" lang="en" sz="10000" u="none" cap="none" strike="noStrike">
                <a:solidFill>
                  <a:schemeClr val="lt1"/>
                </a:solidFill>
                <a:latin typeface="Playfair Display"/>
                <a:ea typeface="Playfair Display"/>
                <a:cs typeface="Playfair Display"/>
                <a:sym typeface="Playfair Display"/>
              </a:rPr>
              <a:t>Coffee Talk</a:t>
            </a:r>
            <a:endParaRPr b="0" i="1" sz="10000" u="none" cap="none" strike="noStrike">
              <a:solidFill>
                <a:schemeClr val="lt1"/>
              </a:solidFill>
              <a:latin typeface="Playfair Display"/>
              <a:ea typeface="Playfair Display"/>
              <a:cs typeface="Playfair Display"/>
              <a:sym typeface="Playfair Display"/>
            </a:endParaRPr>
          </a:p>
        </p:txBody>
      </p:sp>
      <p:sp>
        <p:nvSpPr>
          <p:cNvPr id="56" name="Google Shape;56;p1"/>
          <p:cNvSpPr txBox="1"/>
          <p:nvPr/>
        </p:nvSpPr>
        <p:spPr>
          <a:xfrm>
            <a:off x="962250" y="3716125"/>
            <a:ext cx="72588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660000"/>
                </a:solidFill>
                <a:latin typeface="Times New Roman"/>
                <a:ea typeface="Times New Roman"/>
                <a:cs typeface="Times New Roman"/>
                <a:sym typeface="Times New Roman"/>
              </a:rPr>
              <a:t>A Coffee Brewing &amp; Heart-to-heart Talking Simulator</a:t>
            </a:r>
            <a:endParaRPr b="0" i="0" sz="2000" u="none" cap="none" strike="noStrike">
              <a:solidFill>
                <a:srgbClr val="660000"/>
              </a:solidFill>
              <a:latin typeface="Times New Roman"/>
              <a:ea typeface="Times New Roman"/>
              <a:cs typeface="Times New Roman"/>
              <a:sym typeface="Times New Roman"/>
            </a:endParaRPr>
          </a:p>
        </p:txBody>
      </p:sp>
      <p:sp>
        <p:nvSpPr>
          <p:cNvPr id="57" name="Google Shape;57;p1"/>
          <p:cNvSpPr/>
          <p:nvPr/>
        </p:nvSpPr>
        <p:spPr>
          <a:xfrm>
            <a:off x="78130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58" name="Google Shape;58;p1"/>
          <p:cNvPicPr preferRelativeResize="0"/>
          <p:nvPr/>
        </p:nvPicPr>
        <p:blipFill rotWithShape="1">
          <a:blip r:embed="rId4">
            <a:alphaModFix/>
          </a:blip>
          <a:srcRect b="0" l="0" r="0" t="0"/>
          <a:stretch/>
        </p:blipFill>
        <p:spPr>
          <a:xfrm>
            <a:off x="7889225" y="3297913"/>
            <a:ext cx="833150" cy="569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62" name="Shape 62"/>
        <p:cNvGrpSpPr/>
        <p:nvPr/>
      </p:nvGrpSpPr>
      <p:grpSpPr>
        <a:xfrm>
          <a:off x="0" y="0"/>
          <a:ext cx="0" cy="0"/>
          <a:chOff x="0" y="0"/>
          <a:chExt cx="0" cy="0"/>
        </a:xfrm>
      </p:grpSpPr>
      <p:pic>
        <p:nvPicPr>
          <p:cNvPr id="63" name="Google Shape;63;p2"/>
          <p:cNvPicPr preferRelativeResize="0"/>
          <p:nvPr/>
        </p:nvPicPr>
        <p:blipFill rotWithShape="1">
          <a:blip r:embed="rId3">
            <a:alphaModFix/>
          </a:blip>
          <a:srcRect b="0" l="0" r="0" t="0"/>
          <a:stretch/>
        </p:blipFill>
        <p:spPr>
          <a:xfrm>
            <a:off x="3224775" y="888025"/>
            <a:ext cx="5919226" cy="3327949"/>
          </a:xfrm>
          <a:prstGeom prst="rect">
            <a:avLst/>
          </a:prstGeom>
          <a:noFill/>
          <a:ln>
            <a:noFill/>
          </a:ln>
        </p:spPr>
      </p:pic>
      <p:sp>
        <p:nvSpPr>
          <p:cNvPr id="64" name="Google Shape;64;p2"/>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 name="Google Shape;65;p2"/>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The Game</a:t>
            </a:r>
            <a:endParaRPr b="0" i="1" sz="2400" u="none" cap="none" strike="noStrike">
              <a:solidFill>
                <a:srgbClr val="660000"/>
              </a:solidFill>
              <a:latin typeface="Playfair Display"/>
              <a:ea typeface="Playfair Display"/>
              <a:cs typeface="Playfair Display"/>
              <a:sym typeface="Playfair Display"/>
            </a:endParaRPr>
          </a:p>
        </p:txBody>
      </p:sp>
      <p:cxnSp>
        <p:nvCxnSpPr>
          <p:cNvPr id="66" name="Google Shape;66;p2"/>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67" name="Google Shape;67;p2"/>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68" name="Google Shape;68;p2"/>
          <p:cNvSpPr txBox="1"/>
          <p:nvPr/>
        </p:nvSpPr>
        <p:spPr>
          <a:xfrm>
            <a:off x="205950" y="1028925"/>
            <a:ext cx="2788500" cy="3594600"/>
          </a:xfrm>
          <a:prstGeom prst="rect">
            <a:avLst/>
          </a:prstGeom>
          <a:noFill/>
          <a:ln>
            <a:noFill/>
          </a:ln>
        </p:spPr>
        <p:txBody>
          <a:bodyPr anchorCtr="0" anchor="t" bIns="91425" lIns="91425" spcFirstLastPara="1" rIns="91425" wrap="square" tIns="91425">
            <a:noAutofit/>
          </a:bodyPr>
          <a:lstStyle/>
          <a:p>
            <a:pPr indent="0" lvl="0" marL="0" marR="0" rtl="0" algn="ctr">
              <a:lnSpc>
                <a:spcPct val="150000"/>
              </a:lnSpc>
              <a:spcBef>
                <a:spcPts val="0"/>
              </a:spcBef>
              <a:spcAft>
                <a:spcPts val="0"/>
              </a:spcAft>
              <a:buClr>
                <a:srgbClr val="000000"/>
              </a:buClr>
              <a:buSzPts val="1200"/>
              <a:buFont typeface="Arial"/>
              <a:buNone/>
            </a:pPr>
            <a:r>
              <a:rPr b="0" i="1" lang="en" sz="1200" u="none" cap="none" strike="noStrike">
                <a:solidFill>
                  <a:srgbClr val="4C1130"/>
                </a:solidFill>
                <a:latin typeface="Merriweather"/>
                <a:ea typeface="Merriweather"/>
                <a:cs typeface="Merriweather"/>
                <a:sym typeface="Merriweather"/>
              </a:rPr>
              <a:t>Coffee Talk</a:t>
            </a:r>
            <a:r>
              <a:rPr b="0" i="0" lang="en" sz="1200" u="none" cap="none" strike="noStrike">
                <a:solidFill>
                  <a:srgbClr val="4C1130"/>
                </a:solidFill>
                <a:latin typeface="Merriweather"/>
                <a:ea typeface="Merriweather"/>
                <a:cs typeface="Merriweather"/>
                <a:sym typeface="Merriweather"/>
              </a:rPr>
              <a:t> is a game about listening to people’s stories and changing their lives, one warm cup at a time.</a:t>
            </a:r>
            <a:endParaRPr b="0" i="0" sz="1200" u="none" cap="none" strike="noStrike">
              <a:solidFill>
                <a:srgbClr val="4C1130"/>
              </a:solidFill>
              <a:latin typeface="Merriweather"/>
              <a:ea typeface="Merriweather"/>
              <a:cs typeface="Merriweather"/>
              <a:sym typeface="Merriweather"/>
            </a:endParaRPr>
          </a:p>
          <a:p>
            <a:pPr indent="0" lvl="0" marL="0" marR="0" rtl="0" algn="ctr">
              <a:lnSpc>
                <a:spcPct val="150000"/>
              </a:lnSpc>
              <a:spcBef>
                <a:spcPts val="1600"/>
              </a:spcBef>
              <a:spcAft>
                <a:spcPts val="160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This is a game where you can wind down and relax. Experiment with different ingredients and brew warm drinks, meet interesting characters and listen to their stories over a cup of coffee, or two.</a:t>
            </a:r>
            <a:endParaRPr b="0" i="0" sz="120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72" name="Shape 72"/>
        <p:cNvGrpSpPr/>
        <p:nvPr/>
      </p:nvGrpSpPr>
      <p:grpSpPr>
        <a:xfrm>
          <a:off x="0" y="0"/>
          <a:ext cx="0" cy="0"/>
          <a:chOff x="0" y="0"/>
          <a:chExt cx="0" cy="0"/>
        </a:xfrm>
      </p:grpSpPr>
      <p:pic>
        <p:nvPicPr>
          <p:cNvPr id="73" name="Google Shape;73;p3"/>
          <p:cNvPicPr preferRelativeResize="0"/>
          <p:nvPr/>
        </p:nvPicPr>
        <p:blipFill rotWithShape="1">
          <a:blip r:embed="rId3">
            <a:alphaModFix/>
          </a:blip>
          <a:srcRect b="0" l="0" r="0" t="0"/>
          <a:stretch/>
        </p:blipFill>
        <p:spPr>
          <a:xfrm>
            <a:off x="3154488" y="0"/>
            <a:ext cx="7013858" cy="5143501"/>
          </a:xfrm>
          <a:prstGeom prst="rect">
            <a:avLst/>
          </a:prstGeom>
          <a:noFill/>
          <a:ln>
            <a:noFill/>
          </a:ln>
        </p:spPr>
      </p:pic>
      <p:sp>
        <p:nvSpPr>
          <p:cNvPr id="74" name="Google Shape;74;p3"/>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5" name="Google Shape;75;p3"/>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Game Overview</a:t>
            </a:r>
            <a:endParaRPr b="0" i="1" sz="2400" u="none" cap="none" strike="noStrike">
              <a:solidFill>
                <a:srgbClr val="660000"/>
              </a:solidFill>
              <a:latin typeface="Playfair Display"/>
              <a:ea typeface="Playfair Display"/>
              <a:cs typeface="Playfair Display"/>
              <a:sym typeface="Playfair Display"/>
            </a:endParaRPr>
          </a:p>
        </p:txBody>
      </p:sp>
      <p:cxnSp>
        <p:nvCxnSpPr>
          <p:cNvPr id="76" name="Google Shape;76;p3"/>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77" name="Google Shape;77;p3"/>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78" name="Google Shape;78;p3"/>
          <p:cNvSpPr txBox="1"/>
          <p:nvPr/>
        </p:nvSpPr>
        <p:spPr>
          <a:xfrm>
            <a:off x="58350" y="1163075"/>
            <a:ext cx="3096300" cy="3460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Release	: Q2 2019</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Platform	: PC, Switch, PS4, Xbox One,  iOS</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Genre		: Simulation/VN</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Pricing	:</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PC and console: $12.99</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iOS: $4.99 with only the first chapter. Use IAP to unlock the rest of the story.</a:t>
            </a:r>
            <a:endParaRPr b="0" i="0" sz="1200" u="none" cap="none" strike="noStrike">
              <a:solidFill>
                <a:srgbClr val="4C1130"/>
              </a:solidFill>
              <a:latin typeface="Merriweather"/>
              <a:ea typeface="Merriweather"/>
              <a:cs typeface="Merriweather"/>
              <a:sym typeface="Merriweather"/>
            </a:endParaRPr>
          </a:p>
          <a:p>
            <a:pPr indent="0" lvl="0" marL="0" marR="0" rtl="0" algn="ctr">
              <a:lnSpc>
                <a:spcPct val="150000"/>
              </a:lnSpc>
              <a:spcBef>
                <a:spcPts val="160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a:p>
            <a:pPr indent="0" lvl="0" marL="0" marR="0" rtl="0" algn="l">
              <a:lnSpc>
                <a:spcPct val="100000"/>
              </a:lnSpc>
              <a:spcBef>
                <a:spcPts val="160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82" name="Shape 82"/>
        <p:cNvGrpSpPr/>
        <p:nvPr/>
      </p:nvGrpSpPr>
      <p:grpSpPr>
        <a:xfrm>
          <a:off x="0" y="0"/>
          <a:ext cx="0" cy="0"/>
          <a:chOff x="0" y="0"/>
          <a:chExt cx="0" cy="0"/>
        </a:xfrm>
      </p:grpSpPr>
      <p:pic>
        <p:nvPicPr>
          <p:cNvPr id="83" name="Google Shape;83;p4"/>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84" name="Google Shape;84;p4"/>
          <p:cNvSpPr txBox="1"/>
          <p:nvPr/>
        </p:nvSpPr>
        <p:spPr>
          <a:xfrm>
            <a:off x="2534400" y="4093150"/>
            <a:ext cx="40752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Core Experience</a:t>
            </a:r>
            <a:endParaRPr b="0" i="1" sz="2400" u="none" cap="none" strike="noStrike">
              <a:solidFill>
                <a:srgbClr val="660000"/>
              </a:solidFill>
              <a:latin typeface="Playfair Display"/>
              <a:ea typeface="Playfair Display"/>
              <a:cs typeface="Playfair Display"/>
              <a:sym typeface="Playfair Display"/>
            </a:endParaRPr>
          </a:p>
        </p:txBody>
      </p:sp>
      <p:sp>
        <p:nvSpPr>
          <p:cNvPr id="85" name="Google Shape;85;p4"/>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86" name="Google Shape;86;p4"/>
          <p:cNvPicPr preferRelativeResize="0"/>
          <p:nvPr/>
        </p:nvPicPr>
        <p:blipFill rotWithShape="1">
          <a:blip r:embed="rId4">
            <a:alphaModFix/>
          </a:blip>
          <a:srcRect b="0" l="0" r="0" t="0"/>
          <a:stretch/>
        </p:blipFill>
        <p:spPr>
          <a:xfrm>
            <a:off x="4267200" y="3277950"/>
            <a:ext cx="609600" cy="609600"/>
          </a:xfrm>
          <a:prstGeom prst="rect">
            <a:avLst/>
          </a:prstGeom>
          <a:noFill/>
          <a:ln>
            <a:noFill/>
          </a:ln>
        </p:spPr>
      </p:pic>
      <p:sp>
        <p:nvSpPr>
          <p:cNvPr id="87" name="Google Shape;87;p4"/>
          <p:cNvSpPr txBox="1"/>
          <p:nvPr/>
        </p:nvSpPr>
        <p:spPr>
          <a:xfrm>
            <a:off x="920575" y="505200"/>
            <a:ext cx="7313400" cy="12555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200"/>
              <a:buFont typeface="Arial"/>
              <a:buNone/>
            </a:pPr>
            <a:r>
              <a:rPr b="0" i="1" lang="en" sz="1200" u="none" cap="none" strike="noStrike">
                <a:solidFill>
                  <a:schemeClr val="lt1"/>
                </a:solidFill>
                <a:latin typeface="Merriweather"/>
                <a:ea typeface="Merriweather"/>
                <a:cs typeface="Merriweather"/>
                <a:sym typeface="Merriweather"/>
              </a:rPr>
              <a:t>“Imagine holding a warm cup, sitting next to a window, </a:t>
            </a:r>
            <a:endParaRPr b="0" i="1" sz="1200" u="none" cap="none" strike="noStrike">
              <a:solidFill>
                <a:schemeClr val="lt1"/>
              </a:solidFill>
              <a:latin typeface="Merriweather"/>
              <a:ea typeface="Merriweather"/>
              <a:cs typeface="Merriweather"/>
              <a:sym typeface="Merriweather"/>
            </a:endParaRPr>
          </a:p>
          <a:p>
            <a:pPr indent="0" lvl="0" marL="0" marR="0" rtl="0" algn="l">
              <a:lnSpc>
                <a:spcPct val="150000"/>
              </a:lnSpc>
              <a:spcBef>
                <a:spcPts val="0"/>
              </a:spcBef>
              <a:spcAft>
                <a:spcPts val="0"/>
              </a:spcAft>
              <a:buClr>
                <a:srgbClr val="000000"/>
              </a:buClr>
              <a:buSzPts val="1200"/>
              <a:buFont typeface="Arial"/>
              <a:buNone/>
            </a:pPr>
            <a:r>
              <a:rPr b="0" i="1" lang="en" sz="1200" u="none" cap="none" strike="noStrike">
                <a:solidFill>
                  <a:schemeClr val="lt1"/>
                </a:solidFill>
                <a:latin typeface="Merriweather"/>
                <a:ea typeface="Merriweather"/>
                <a:cs typeface="Merriweather"/>
                <a:sym typeface="Merriweather"/>
              </a:rPr>
              <a:t>while it’s raining outside, lo-fi music in the background,</a:t>
            </a:r>
            <a:endParaRPr b="0" i="1" sz="1200" u="none" cap="none" strike="noStrike">
              <a:solidFill>
                <a:schemeClr val="lt1"/>
              </a:solidFill>
              <a:latin typeface="Merriweather"/>
              <a:ea typeface="Merriweather"/>
              <a:cs typeface="Merriweather"/>
              <a:sym typeface="Merriweather"/>
            </a:endParaRPr>
          </a:p>
          <a:p>
            <a:pPr indent="0" lvl="0" marL="0" marR="0" rtl="0" algn="l">
              <a:lnSpc>
                <a:spcPct val="150000"/>
              </a:lnSpc>
              <a:spcBef>
                <a:spcPts val="0"/>
              </a:spcBef>
              <a:spcAft>
                <a:spcPts val="0"/>
              </a:spcAft>
              <a:buClr>
                <a:srgbClr val="000000"/>
              </a:buClr>
              <a:buSzPts val="1200"/>
              <a:buFont typeface="Arial"/>
              <a:buNone/>
            </a:pPr>
            <a:r>
              <a:rPr b="0" i="1" lang="en" sz="1200" u="none" cap="none" strike="noStrike">
                <a:solidFill>
                  <a:schemeClr val="lt1"/>
                </a:solidFill>
                <a:latin typeface="Merriweather"/>
                <a:ea typeface="Merriweather"/>
                <a:cs typeface="Merriweather"/>
                <a:sym typeface="Merriweather"/>
              </a:rPr>
              <a:t>and listening to your friends tell their stories.”</a:t>
            </a:r>
            <a:endParaRPr b="0" i="1" sz="1200" u="none" cap="none" strike="noStrike">
              <a:solidFill>
                <a:schemeClr val="lt1"/>
              </a:solidFill>
              <a:latin typeface="Merriweather"/>
              <a:ea typeface="Merriweather"/>
              <a:cs typeface="Merriweather"/>
              <a:sym typeface="Merriweather"/>
            </a:endParaRPr>
          </a:p>
          <a:p>
            <a:pPr indent="-304800" lvl="0" marL="457200" marR="0" rtl="0" algn="l">
              <a:lnSpc>
                <a:spcPct val="115000"/>
              </a:lnSpc>
              <a:spcBef>
                <a:spcPts val="0"/>
              </a:spcBef>
              <a:spcAft>
                <a:spcPts val="0"/>
              </a:spcAft>
              <a:buClr>
                <a:schemeClr val="lt1"/>
              </a:buClr>
              <a:buSzPts val="1200"/>
              <a:buFont typeface="Merriweather"/>
              <a:buChar char="-"/>
            </a:pPr>
            <a:r>
              <a:rPr b="0" i="1" lang="en" sz="1200" u="none" cap="none" strike="noStrike">
                <a:solidFill>
                  <a:schemeClr val="lt1"/>
                </a:solidFill>
                <a:latin typeface="Merriweather"/>
                <a:ea typeface="Merriweather"/>
                <a:cs typeface="Merriweather"/>
                <a:sym typeface="Merriweather"/>
              </a:rPr>
              <a:t>Fahmi Hasni</a:t>
            </a:r>
            <a:endParaRPr b="0" i="1" sz="1200" u="none" cap="none" strike="noStrike">
              <a:solidFill>
                <a:schemeClr val="lt1"/>
              </a:solidFill>
              <a:latin typeface="Merriweather"/>
              <a:ea typeface="Merriweather"/>
              <a:cs typeface="Merriweather"/>
              <a:sym typeface="Merriweathe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91" name="Shape 91"/>
        <p:cNvGrpSpPr/>
        <p:nvPr/>
      </p:nvGrpSpPr>
      <p:grpSpPr>
        <a:xfrm>
          <a:off x="0" y="0"/>
          <a:ext cx="0" cy="0"/>
          <a:chOff x="0" y="0"/>
          <a:chExt cx="0" cy="0"/>
        </a:xfrm>
      </p:grpSpPr>
      <p:pic>
        <p:nvPicPr>
          <p:cNvPr id="92" name="Google Shape;92;p5"/>
          <p:cNvPicPr preferRelativeResize="0"/>
          <p:nvPr/>
        </p:nvPicPr>
        <p:blipFill rotWithShape="1">
          <a:blip r:embed="rId3">
            <a:alphaModFix/>
          </a:blip>
          <a:srcRect b="0" l="0" r="0" t="0"/>
          <a:stretch/>
        </p:blipFill>
        <p:spPr>
          <a:xfrm>
            <a:off x="2269200" y="243601"/>
            <a:ext cx="8282335" cy="4656524"/>
          </a:xfrm>
          <a:prstGeom prst="rect">
            <a:avLst/>
          </a:prstGeom>
          <a:noFill/>
          <a:ln>
            <a:noFill/>
          </a:ln>
        </p:spPr>
      </p:pic>
      <p:sp>
        <p:nvSpPr>
          <p:cNvPr id="93" name="Google Shape;93;p5"/>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5"/>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Core Experience</a:t>
            </a:r>
            <a:endParaRPr b="0" i="1" sz="2400" u="none" cap="none" strike="noStrike">
              <a:solidFill>
                <a:srgbClr val="660000"/>
              </a:solidFill>
              <a:latin typeface="Playfair Display"/>
              <a:ea typeface="Playfair Display"/>
              <a:cs typeface="Playfair Display"/>
              <a:sym typeface="Playfair Display"/>
            </a:endParaRPr>
          </a:p>
        </p:txBody>
      </p:sp>
      <p:cxnSp>
        <p:nvCxnSpPr>
          <p:cNvPr id="95" name="Google Shape;95;p5"/>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96" name="Google Shape;96;p5"/>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97" name="Google Shape;97;p5"/>
          <p:cNvSpPr txBox="1"/>
          <p:nvPr/>
        </p:nvSpPr>
        <p:spPr>
          <a:xfrm>
            <a:off x="205950" y="1163075"/>
            <a:ext cx="2788500" cy="3248400"/>
          </a:xfrm>
          <a:prstGeom prst="rect">
            <a:avLst/>
          </a:prstGeom>
          <a:noFill/>
          <a:ln>
            <a:noFill/>
          </a:ln>
        </p:spPr>
        <p:txBody>
          <a:bodyPr anchorCtr="0" anchor="t" bIns="91425" lIns="91425" spcFirstLastPara="1" rIns="91425" wrap="square" tIns="91425">
            <a:noAutofit/>
          </a:bodyPr>
          <a:lstStyle/>
          <a:p>
            <a:pPr indent="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Unlike most games that emphasize on action, puzzle, or reward-punishment mechanics, Coffee Talk is built on three core values:</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AutoNum type="arabicPeriod"/>
            </a:pPr>
            <a:r>
              <a:rPr b="0" i="0" lang="en" sz="1200" u="none" cap="none" strike="noStrike">
                <a:solidFill>
                  <a:srgbClr val="4C1130"/>
                </a:solidFill>
                <a:latin typeface="Merriweather"/>
                <a:ea typeface="Merriweather"/>
                <a:cs typeface="Merriweather"/>
                <a:sym typeface="Merriweather"/>
              </a:rPr>
              <a:t>Tell stories that are interesting and relatable</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AutoNum type="arabicPeriod"/>
            </a:pPr>
            <a:r>
              <a:rPr b="0" i="0" lang="en" sz="1200" u="none" cap="none" strike="noStrike">
                <a:solidFill>
                  <a:srgbClr val="4C1130"/>
                </a:solidFill>
                <a:latin typeface="Merriweather"/>
                <a:ea typeface="Merriweather"/>
                <a:cs typeface="Merriweather"/>
                <a:sym typeface="Merriweather"/>
              </a:rPr>
              <a:t>Present the players with an audio visual experience that can help them feel relaxed, chill, and calm</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AutoNum type="arabicPeriod"/>
            </a:pPr>
            <a:r>
              <a:rPr b="0" i="0" lang="en" sz="1200" u="none" cap="none" strike="noStrike">
                <a:solidFill>
                  <a:srgbClr val="4C1130"/>
                </a:solidFill>
                <a:latin typeface="Merriweather"/>
                <a:ea typeface="Merriweather"/>
                <a:cs typeface="Merriweather"/>
                <a:sym typeface="Merriweather"/>
              </a:rPr>
              <a:t>Challenge, but don’t punish</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101" name="Shape 101"/>
        <p:cNvGrpSpPr/>
        <p:nvPr/>
      </p:nvGrpSpPr>
      <p:grpSpPr>
        <a:xfrm>
          <a:off x="0" y="0"/>
          <a:ext cx="0" cy="0"/>
          <a:chOff x="0" y="0"/>
          <a:chExt cx="0" cy="0"/>
        </a:xfrm>
      </p:grpSpPr>
      <p:pic>
        <p:nvPicPr>
          <p:cNvPr id="102" name="Google Shape;102;p6"/>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103" name="Google Shape;103;p6"/>
          <p:cNvSpPr txBox="1"/>
          <p:nvPr>
            <p:ph type="title"/>
          </p:nvPr>
        </p:nvSpPr>
        <p:spPr>
          <a:xfrm>
            <a:off x="311700" y="140225"/>
            <a:ext cx="852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b="1" i="1" lang="en" sz="2400">
                <a:solidFill>
                  <a:srgbClr val="F7F2E5"/>
                </a:solidFill>
                <a:latin typeface="Playfair Display"/>
                <a:ea typeface="Playfair Display"/>
                <a:cs typeface="Playfair Display"/>
                <a:sym typeface="Playfair Display"/>
              </a:rPr>
              <a:t>Teaser Trailer</a:t>
            </a:r>
            <a:endParaRPr b="1" sz="2400">
              <a:solidFill>
                <a:srgbClr val="F7F2E5"/>
              </a:solidFill>
            </a:endParaRPr>
          </a:p>
        </p:txBody>
      </p:sp>
      <p:pic>
        <p:nvPicPr>
          <p:cNvPr descr="Coffee Talk is a game about listening to people’s problems and help them by serving a warm drink out of the ingredients you have. It is a game that tries to depict our lives as humanly as possible while having a cast that is more than just humans.&#10;&#10;Developed and published by Toge Productions, the game was inspired by the calm feelings of drinking warm drinks in the middle of a cold rainy night, alone or accompanied by friends. The game features visual aesthetics that are inspired by 90s anime, classic pixel art adventure games, and the chill imageries often associated with lo-fi chillhop music.&#10;&#10;Immerse yourself in the stories of alternative Seattle inhabitants, from the dramatic love story between an elf and a succubus, an alien journey trying to understand human’s life, and many other stories that we might be able to relate a lot.&#10;&#10;Developer: Toge Productions&#10;Publisher: Toge Productions&#10;Platforms: PC, Mac&#10;Release date: 2019" id="104" name="Google Shape;104;p6" title="Coffee Talk - Teaser Video">
            <a:hlinkClick r:id="rId4"/>
          </p:cNvPr>
          <p:cNvPicPr preferRelativeResize="0"/>
          <p:nvPr/>
        </p:nvPicPr>
        <p:blipFill rotWithShape="1">
          <a:blip r:embed="rId5">
            <a:alphaModFix/>
          </a:blip>
          <a:srcRect b="0" l="0" r="0" t="0"/>
          <a:stretch/>
        </p:blipFill>
        <p:spPr>
          <a:xfrm>
            <a:off x="1143000" y="628650"/>
            <a:ext cx="6858000" cy="42862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108" name="Shape 108"/>
        <p:cNvGrpSpPr/>
        <p:nvPr/>
      </p:nvGrpSpPr>
      <p:grpSpPr>
        <a:xfrm>
          <a:off x="0" y="0"/>
          <a:ext cx="0" cy="0"/>
          <a:chOff x="0" y="0"/>
          <a:chExt cx="0" cy="0"/>
        </a:xfrm>
      </p:grpSpPr>
      <p:pic>
        <p:nvPicPr>
          <p:cNvPr id="109" name="Google Shape;109;p7"/>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110" name="Google Shape;110;p7"/>
          <p:cNvSpPr txBox="1"/>
          <p:nvPr/>
        </p:nvSpPr>
        <p:spPr>
          <a:xfrm>
            <a:off x="2534400" y="4093150"/>
            <a:ext cx="40752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Features</a:t>
            </a:r>
            <a:endParaRPr b="0" i="1" sz="2400" u="none" cap="none" strike="noStrike">
              <a:solidFill>
                <a:srgbClr val="660000"/>
              </a:solidFill>
              <a:latin typeface="Playfair Display"/>
              <a:ea typeface="Playfair Display"/>
              <a:cs typeface="Playfair Display"/>
              <a:sym typeface="Playfair Display"/>
            </a:endParaRPr>
          </a:p>
        </p:txBody>
      </p:sp>
      <p:sp>
        <p:nvSpPr>
          <p:cNvPr id="111" name="Google Shape;111;p7"/>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12" name="Google Shape;112;p7"/>
          <p:cNvPicPr preferRelativeResize="0"/>
          <p:nvPr/>
        </p:nvPicPr>
        <p:blipFill rotWithShape="1">
          <a:blip r:embed="rId4">
            <a:alphaModFix/>
          </a:blip>
          <a:srcRect b="0" l="0" r="0" t="0"/>
          <a:stretch/>
        </p:blipFill>
        <p:spPr>
          <a:xfrm>
            <a:off x="4267200" y="3277950"/>
            <a:ext cx="609600" cy="6096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116" name="Shape 116"/>
        <p:cNvGrpSpPr/>
        <p:nvPr/>
      </p:nvGrpSpPr>
      <p:grpSpPr>
        <a:xfrm>
          <a:off x="0" y="0"/>
          <a:ext cx="0" cy="0"/>
          <a:chOff x="0" y="0"/>
          <a:chExt cx="0" cy="0"/>
        </a:xfrm>
      </p:grpSpPr>
      <p:pic>
        <p:nvPicPr>
          <p:cNvPr id="117" name="Google Shape;117;p8"/>
          <p:cNvPicPr preferRelativeResize="0"/>
          <p:nvPr/>
        </p:nvPicPr>
        <p:blipFill rotWithShape="1">
          <a:blip r:embed="rId3">
            <a:alphaModFix/>
          </a:blip>
          <a:srcRect b="0" l="0" r="0" t="0"/>
          <a:stretch/>
        </p:blipFill>
        <p:spPr>
          <a:xfrm>
            <a:off x="2742269" y="0"/>
            <a:ext cx="7059707" cy="5143500"/>
          </a:xfrm>
          <a:prstGeom prst="rect">
            <a:avLst/>
          </a:prstGeom>
          <a:noFill/>
          <a:ln>
            <a:noFill/>
          </a:ln>
        </p:spPr>
      </p:pic>
      <p:sp>
        <p:nvSpPr>
          <p:cNvPr id="118" name="Google Shape;118;p8"/>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8"/>
          <p:cNvSpPr txBox="1"/>
          <p:nvPr/>
        </p:nvSpPr>
        <p:spPr>
          <a:xfrm>
            <a:off x="132150" y="1006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1" lang="en" sz="1800" u="none" cap="none" strike="noStrike">
                <a:solidFill>
                  <a:srgbClr val="660000"/>
                </a:solidFill>
                <a:latin typeface="Playfair Display"/>
                <a:ea typeface="Playfair Display"/>
                <a:cs typeface="Playfair Display"/>
                <a:sym typeface="Playfair Display"/>
              </a:rPr>
              <a:t>Narrative Experience Set in Urban Fantasy Setting</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chemeClr val="dk1"/>
              </a:buClr>
              <a:buSzPts val="11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120" name="Google Shape;120;p8"/>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121" name="Google Shape;121;p8"/>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122" name="Google Shape;122;p8"/>
          <p:cNvSpPr txBox="1"/>
          <p:nvPr/>
        </p:nvSpPr>
        <p:spPr>
          <a:xfrm>
            <a:off x="205950" y="1067800"/>
            <a:ext cx="2788500" cy="3475200"/>
          </a:xfrm>
          <a:prstGeom prst="rect">
            <a:avLst/>
          </a:prstGeom>
          <a:noFill/>
          <a:ln>
            <a:noFill/>
          </a:ln>
        </p:spPr>
        <p:txBody>
          <a:bodyPr anchorCtr="0" anchor="t" bIns="91425" lIns="91425" spcFirstLastPara="1" rIns="91425" wrap="square" tIns="91425">
            <a:noAutofit/>
          </a:bodyPr>
          <a:lstStyle/>
          <a:p>
            <a:pPr indent="457200" lvl="0" marL="0" marR="0" rtl="0" algn="l">
              <a:lnSpc>
                <a:spcPct val="150000"/>
              </a:lnSpc>
              <a:spcBef>
                <a:spcPts val="0"/>
              </a:spcBef>
              <a:spcAft>
                <a:spcPts val="0"/>
              </a:spcAft>
              <a:buClr>
                <a:schemeClr val="dk1"/>
              </a:buClr>
              <a:buSzPts val="1100"/>
              <a:buFont typeface="Arial"/>
              <a:buNone/>
            </a:pPr>
            <a:r>
              <a:rPr b="0" i="0" lang="en" sz="1150" u="none" cap="none" strike="noStrike">
                <a:solidFill>
                  <a:srgbClr val="4C1130"/>
                </a:solidFill>
                <a:latin typeface="Merriweather"/>
                <a:ea typeface="Merriweather"/>
                <a:cs typeface="Merriweather"/>
                <a:sym typeface="Merriweather"/>
              </a:rPr>
              <a:t>Tales of people from an alternate-Seattle, a city where elves, orcs, mermaids, and many other fantasy races live together with humans in a modern world we will all find familiar.</a:t>
            </a:r>
            <a:endParaRPr b="0" i="0" sz="1150" u="none" cap="none" strike="noStrike">
              <a:solidFill>
                <a:srgbClr val="4C1130"/>
              </a:solidFill>
              <a:latin typeface="Merriweather"/>
              <a:ea typeface="Merriweather"/>
              <a:cs typeface="Merriweather"/>
              <a:sym typeface="Merriweather"/>
            </a:endParaRPr>
          </a:p>
          <a:p>
            <a:pPr indent="457200" lvl="0" marL="0" marR="0" rtl="0" algn="l">
              <a:lnSpc>
                <a:spcPct val="150000"/>
              </a:lnSpc>
              <a:spcBef>
                <a:spcPts val="0"/>
              </a:spcBef>
              <a:spcAft>
                <a:spcPts val="0"/>
              </a:spcAft>
              <a:buClr>
                <a:srgbClr val="000000"/>
              </a:buClr>
              <a:buSzPts val="1150"/>
              <a:buFont typeface="Arial"/>
              <a:buNone/>
            </a:pPr>
            <a:r>
              <a:t/>
            </a:r>
            <a:endParaRPr b="0" i="0" sz="1150" u="none" cap="none" strike="noStrike">
              <a:solidFill>
                <a:srgbClr val="4C1130"/>
              </a:solidFill>
              <a:latin typeface="Merriweather"/>
              <a:ea typeface="Merriweather"/>
              <a:cs typeface="Merriweather"/>
              <a:sym typeface="Merriweather"/>
            </a:endParaRPr>
          </a:p>
          <a:p>
            <a:pPr indent="457200" lvl="0" marL="0" marR="0" rtl="0" algn="l">
              <a:lnSpc>
                <a:spcPct val="150000"/>
              </a:lnSpc>
              <a:spcBef>
                <a:spcPts val="0"/>
              </a:spcBef>
              <a:spcAft>
                <a:spcPts val="0"/>
              </a:spcAft>
              <a:buClr>
                <a:srgbClr val="000000"/>
              </a:buClr>
              <a:buSzPts val="1150"/>
              <a:buFont typeface="Arial"/>
              <a:buNone/>
            </a:pPr>
            <a:r>
              <a:rPr b="0" i="0" lang="en" sz="1150" u="none" cap="none" strike="noStrike">
                <a:solidFill>
                  <a:srgbClr val="4C1130"/>
                </a:solidFill>
                <a:latin typeface="Merriweather"/>
                <a:ea typeface="Merriweather"/>
                <a:cs typeface="Merriweather"/>
                <a:sym typeface="Merriweather"/>
              </a:rPr>
              <a:t>The game shows the diversity we have in real life, but presented in an unusual fantasy setting that will break player’s expectation of racial stereotypes and prejudices.</a:t>
            </a:r>
            <a:endParaRPr b="0" i="0" sz="115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126" name="Shape 126"/>
        <p:cNvGrpSpPr/>
        <p:nvPr/>
      </p:nvGrpSpPr>
      <p:grpSpPr>
        <a:xfrm>
          <a:off x="0" y="0"/>
          <a:ext cx="0" cy="0"/>
          <a:chOff x="0" y="0"/>
          <a:chExt cx="0" cy="0"/>
        </a:xfrm>
      </p:grpSpPr>
      <p:pic>
        <p:nvPicPr>
          <p:cNvPr id="127" name="Google Shape;127;p9"/>
          <p:cNvPicPr preferRelativeResize="0"/>
          <p:nvPr/>
        </p:nvPicPr>
        <p:blipFill rotWithShape="1">
          <a:blip r:embed="rId3">
            <a:alphaModFix/>
          </a:blip>
          <a:srcRect b="0" l="0" r="0" t="0"/>
          <a:stretch/>
        </p:blipFill>
        <p:spPr>
          <a:xfrm>
            <a:off x="0" y="1380"/>
            <a:ext cx="9144001" cy="5140990"/>
          </a:xfrm>
          <a:prstGeom prst="rect">
            <a:avLst/>
          </a:prstGeom>
          <a:noFill/>
          <a:ln>
            <a:noFill/>
          </a:ln>
        </p:spPr>
      </p:pic>
      <p:sp>
        <p:nvSpPr>
          <p:cNvPr id="128" name="Google Shape;128;p9"/>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9" name="Google Shape;129;p9"/>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Branching Stories</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130" name="Google Shape;130;p9"/>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131" name="Google Shape;131;p9"/>
          <p:cNvCxnSpPr/>
          <p:nvPr/>
        </p:nvCxnSpPr>
        <p:spPr>
          <a:xfrm>
            <a:off x="1296000" y="4138000"/>
            <a:ext cx="608400" cy="0"/>
          </a:xfrm>
          <a:prstGeom prst="straightConnector1">
            <a:avLst/>
          </a:prstGeom>
          <a:noFill/>
          <a:ln cap="flat" cmpd="sng" w="9525">
            <a:solidFill>
              <a:schemeClr val="dk2"/>
            </a:solidFill>
            <a:prstDash val="solid"/>
            <a:round/>
            <a:headEnd len="sm" w="sm" type="none"/>
            <a:tailEnd len="sm" w="sm" type="none"/>
          </a:ln>
        </p:spPr>
      </p:cxnSp>
      <p:sp>
        <p:nvSpPr>
          <p:cNvPr id="132" name="Google Shape;132;p9"/>
          <p:cNvSpPr txBox="1"/>
          <p:nvPr/>
        </p:nvSpPr>
        <p:spPr>
          <a:xfrm>
            <a:off x="205950" y="1220200"/>
            <a:ext cx="2788500" cy="3475200"/>
          </a:xfrm>
          <a:prstGeom prst="rect">
            <a:avLst/>
          </a:prstGeom>
          <a:noFill/>
          <a:ln>
            <a:noFill/>
          </a:ln>
        </p:spPr>
        <p:txBody>
          <a:bodyPr anchorCtr="0" anchor="t" bIns="91425" lIns="91425" spcFirstLastPara="1" rIns="91425" wrap="square" tIns="91425">
            <a:noAutofit/>
          </a:bodyPr>
          <a:lstStyle/>
          <a:p>
            <a:pPr indent="45720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Brew coffee, tea, and other warm drinks. Some drinks may influence people to open up better than others.</a:t>
            </a:r>
            <a:endParaRPr b="0" i="0" sz="1200" u="none" cap="none" strike="noStrike">
              <a:solidFill>
                <a:srgbClr val="4C1130"/>
              </a:solidFill>
              <a:latin typeface="Merriweather"/>
              <a:ea typeface="Merriweather"/>
              <a:cs typeface="Merriweather"/>
              <a:sym typeface="Merriweather"/>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a:p>
            <a:pPr indent="45720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Find different conclusions of each character’s story by brewing different drinks according to or against their request.</a:t>
            </a:r>
            <a:endParaRPr b="0" i="0" sz="120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dk1"/>
        </a:solidFill>
      </p:bgPr>
    </p:bg>
    <p:spTree>
      <p:nvGrpSpPr>
        <p:cNvPr id="136" name="Shape 136"/>
        <p:cNvGrpSpPr/>
        <p:nvPr/>
      </p:nvGrpSpPr>
      <p:grpSpPr>
        <a:xfrm>
          <a:off x="0" y="0"/>
          <a:ext cx="0" cy="0"/>
          <a:chOff x="0" y="0"/>
          <a:chExt cx="0" cy="0"/>
        </a:xfrm>
      </p:grpSpPr>
      <p:pic>
        <p:nvPicPr>
          <p:cNvPr id="137" name="Google Shape;137;p10"/>
          <p:cNvPicPr preferRelativeResize="0"/>
          <p:nvPr/>
        </p:nvPicPr>
        <p:blipFill rotWithShape="1">
          <a:blip r:embed="rId3">
            <a:alphaModFix/>
          </a:blip>
          <a:srcRect b="0" l="0" r="0" t="0"/>
          <a:stretch/>
        </p:blipFill>
        <p:spPr>
          <a:xfrm>
            <a:off x="3154500" y="1020350"/>
            <a:ext cx="5989502" cy="3369100"/>
          </a:xfrm>
          <a:prstGeom prst="rect">
            <a:avLst/>
          </a:prstGeom>
          <a:noFill/>
          <a:ln>
            <a:noFill/>
          </a:ln>
        </p:spPr>
      </p:pic>
      <p:sp>
        <p:nvSpPr>
          <p:cNvPr id="138" name="Google Shape;138;p10"/>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9" name="Google Shape;139;p10"/>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Latte Art </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140" name="Google Shape;140;p10"/>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141" name="Google Shape;141;p10"/>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142" name="Google Shape;142;p10"/>
          <p:cNvSpPr txBox="1"/>
          <p:nvPr/>
        </p:nvSpPr>
        <p:spPr>
          <a:xfrm>
            <a:off x="205950" y="1822750"/>
            <a:ext cx="2788500" cy="1821900"/>
          </a:xfrm>
          <a:prstGeom prst="rect">
            <a:avLst/>
          </a:prstGeom>
          <a:noFill/>
          <a:ln>
            <a:noFill/>
          </a:ln>
        </p:spPr>
        <p:txBody>
          <a:bodyPr anchorCtr="0" anchor="t" bIns="91425" lIns="91425" spcFirstLastPara="1" rIns="91425" wrap="square" tIns="91425">
            <a:noAutofit/>
          </a:bodyPr>
          <a:lstStyle/>
          <a:p>
            <a:pPr indent="45720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Draw your own latte art on selected drinks, and share it online before serving it to your customers.</a:t>
            </a:r>
            <a:endParaRPr b="0" i="0" sz="120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46" name="Shape 146"/>
        <p:cNvGrpSpPr/>
        <p:nvPr/>
      </p:nvGrpSpPr>
      <p:grpSpPr>
        <a:xfrm>
          <a:off x="0" y="0"/>
          <a:ext cx="0" cy="0"/>
          <a:chOff x="0" y="0"/>
          <a:chExt cx="0" cy="0"/>
        </a:xfrm>
      </p:grpSpPr>
      <p:sp>
        <p:nvSpPr>
          <p:cNvPr id="147" name="Google Shape;147;p11"/>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8" name="Google Shape;148;p11"/>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Fantastic Casts</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149" name="Google Shape;149;p11"/>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150" name="Google Shape;150;p11"/>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151" name="Google Shape;151;p11"/>
          <p:cNvSpPr txBox="1"/>
          <p:nvPr/>
        </p:nvSpPr>
        <p:spPr>
          <a:xfrm>
            <a:off x="205950" y="1067800"/>
            <a:ext cx="2788500" cy="3475200"/>
          </a:xfrm>
          <a:prstGeom prst="rect">
            <a:avLst/>
          </a:prstGeom>
          <a:noFill/>
          <a:ln>
            <a:noFill/>
          </a:ln>
        </p:spPr>
        <p:txBody>
          <a:bodyPr anchorCtr="0" anchor="t" bIns="91425" lIns="91425" spcFirstLastPara="1" rIns="91425" wrap="square" tIns="91425">
            <a:noAutofit/>
          </a:bodyPr>
          <a:lstStyle/>
          <a:p>
            <a:pPr indent="45720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A dozen of characters with their own unique personalities and stories. The designs of the characters were heavily inspired by 90s anime but presented in high definition graphics.</a:t>
            </a:r>
            <a:endParaRPr b="0" i="0" sz="1200" u="none" cap="none" strike="noStrike">
              <a:solidFill>
                <a:srgbClr val="4C1130"/>
              </a:solidFill>
              <a:latin typeface="Merriweather"/>
              <a:ea typeface="Merriweather"/>
              <a:cs typeface="Merriweather"/>
              <a:sym typeface="Merriweather"/>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a:p>
            <a:pPr indent="45720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This is a game where you can find a freelance designer elf, biz dev executive succubus, a post-grad mermaid, programmer orc, and many others!</a:t>
            </a:r>
            <a:endParaRPr b="0" i="0" sz="1200" u="none" cap="none" strike="noStrike">
              <a:solidFill>
                <a:srgbClr val="4C1130"/>
              </a:solidFill>
              <a:latin typeface="Merriweather"/>
              <a:ea typeface="Merriweather"/>
              <a:cs typeface="Merriweather"/>
              <a:sym typeface="Merriweather"/>
            </a:endParaRPr>
          </a:p>
        </p:txBody>
      </p:sp>
      <p:pic>
        <p:nvPicPr>
          <p:cNvPr id="152" name="Google Shape;152;p11"/>
          <p:cNvPicPr preferRelativeResize="0"/>
          <p:nvPr/>
        </p:nvPicPr>
        <p:blipFill rotWithShape="1">
          <a:blip r:embed="rId3">
            <a:alphaModFix/>
          </a:blip>
          <a:srcRect b="0" l="0" r="0" t="0"/>
          <a:stretch/>
        </p:blipFill>
        <p:spPr>
          <a:xfrm>
            <a:off x="3154500" y="888161"/>
            <a:ext cx="5989500" cy="3367436"/>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156" name="Shape 156"/>
        <p:cNvGrpSpPr/>
        <p:nvPr/>
      </p:nvGrpSpPr>
      <p:grpSpPr>
        <a:xfrm>
          <a:off x="0" y="0"/>
          <a:ext cx="0" cy="0"/>
          <a:chOff x="0" y="0"/>
          <a:chExt cx="0" cy="0"/>
        </a:xfrm>
      </p:grpSpPr>
      <p:sp>
        <p:nvSpPr>
          <p:cNvPr id="157" name="Google Shape;157;p12"/>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8" name="Google Shape;158;p12"/>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Relaxing Chill-Hop Music</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159" name="Google Shape;159;p12"/>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160" name="Google Shape;160;p12"/>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161" name="Google Shape;161;p12"/>
          <p:cNvSpPr txBox="1"/>
          <p:nvPr/>
        </p:nvSpPr>
        <p:spPr>
          <a:xfrm>
            <a:off x="205950" y="2030325"/>
            <a:ext cx="2788500" cy="2512800"/>
          </a:xfrm>
          <a:prstGeom prst="rect">
            <a:avLst/>
          </a:prstGeom>
          <a:noFill/>
          <a:ln>
            <a:noFill/>
          </a:ln>
        </p:spPr>
        <p:txBody>
          <a:bodyPr anchorCtr="0" anchor="t" bIns="91425" lIns="91425" spcFirstLastPara="1" rIns="91425" wrap="square" tIns="91425">
            <a:noAutofit/>
          </a:bodyPr>
          <a:lstStyle/>
          <a:p>
            <a:pPr indent="45720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Enjoy more than 20 relaxing jazzy chill-hop music tracks. Written and composed by Andrew Jeremy, one of Indonesia’s top game music composer.</a:t>
            </a:r>
            <a:endParaRPr b="0" i="0" sz="1200" u="none" cap="none" strike="noStrike">
              <a:solidFill>
                <a:srgbClr val="4C1130"/>
              </a:solidFill>
              <a:latin typeface="Merriweather"/>
              <a:ea typeface="Merriweather"/>
              <a:cs typeface="Merriweather"/>
              <a:sym typeface="Merriweather"/>
            </a:endParaRPr>
          </a:p>
        </p:txBody>
      </p:sp>
      <p:pic>
        <p:nvPicPr>
          <p:cNvPr descr="Collection of music tracks from heart-to-heart talking simulator game, Coffee Talk&#10;&#10;All tracks by Andrew Jeremy of Toge Productions&#10;Art by Hendry Roesly of Toge Productions&#10;&#10;Play the demo and wishlist the game here: http://bit.ly/ct-steam&#10;&#10;Tracks:&#10;00:00 A Day with Coffee&#10;01:41 Calming Drizzle&#10;03:21 Little Sway&#10;05:15 Lonely Space&#10;06:58 Sunset in the City&#10;08:33 Tenderhearted&#10;&#10;Copyright ©2019 Toge Productions" id="162" name="Google Shape;162;p12" title="Writer's Block ~ Lofi Chillhop Mix Beats to chill/study/work/relax [Coffee Talk Game OST]">
            <a:hlinkClick r:id="rId3"/>
          </p:cNvPr>
          <p:cNvPicPr preferRelativeResize="0"/>
          <p:nvPr/>
        </p:nvPicPr>
        <p:blipFill rotWithShape="1">
          <a:blip r:embed="rId4">
            <a:alphaModFix/>
          </a:blip>
          <a:srcRect b="0" l="0" r="0" t="0"/>
          <a:stretch/>
        </p:blipFill>
        <p:spPr>
          <a:xfrm>
            <a:off x="3916500" y="838200"/>
            <a:ext cx="4572000" cy="34290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166" name="Shape 166"/>
        <p:cNvGrpSpPr/>
        <p:nvPr/>
      </p:nvGrpSpPr>
      <p:grpSpPr>
        <a:xfrm>
          <a:off x="0" y="0"/>
          <a:ext cx="0" cy="0"/>
          <a:chOff x="0" y="0"/>
          <a:chExt cx="0" cy="0"/>
        </a:xfrm>
      </p:grpSpPr>
      <p:pic>
        <p:nvPicPr>
          <p:cNvPr id="167" name="Google Shape;167;p13"/>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168" name="Google Shape;168;p13"/>
          <p:cNvSpPr txBox="1"/>
          <p:nvPr/>
        </p:nvSpPr>
        <p:spPr>
          <a:xfrm>
            <a:off x="2534400" y="4093150"/>
            <a:ext cx="40752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Market Analysis</a:t>
            </a:r>
            <a:endParaRPr b="0" i="1" sz="2400" u="none" cap="none" strike="noStrike">
              <a:solidFill>
                <a:srgbClr val="660000"/>
              </a:solidFill>
              <a:latin typeface="Playfair Display"/>
              <a:ea typeface="Playfair Display"/>
              <a:cs typeface="Playfair Display"/>
              <a:sym typeface="Playfair Display"/>
            </a:endParaRPr>
          </a:p>
        </p:txBody>
      </p:sp>
      <p:sp>
        <p:nvSpPr>
          <p:cNvPr id="169" name="Google Shape;169;p13"/>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170" name="Google Shape;170;p13"/>
          <p:cNvPicPr preferRelativeResize="0"/>
          <p:nvPr/>
        </p:nvPicPr>
        <p:blipFill rotWithShape="1">
          <a:blip r:embed="rId4">
            <a:alphaModFix/>
          </a:blip>
          <a:srcRect b="0" l="0" r="0" t="0"/>
          <a:stretch/>
        </p:blipFill>
        <p:spPr>
          <a:xfrm>
            <a:off x="4366225" y="3376975"/>
            <a:ext cx="411550" cy="4115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4" name="Shape 174"/>
        <p:cNvGrpSpPr/>
        <p:nvPr/>
      </p:nvGrpSpPr>
      <p:grpSpPr>
        <a:xfrm>
          <a:off x="0" y="0"/>
          <a:ext cx="0" cy="0"/>
          <a:chOff x="0" y="0"/>
          <a:chExt cx="0" cy="0"/>
        </a:xfrm>
      </p:grpSpPr>
      <p:sp>
        <p:nvSpPr>
          <p:cNvPr id="175" name="Google Shape;175;p14"/>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6" name="Google Shape;176;p14"/>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Target Market</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177" name="Google Shape;177;p14"/>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178" name="Google Shape;178;p14"/>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179" name="Google Shape;179;p14"/>
          <p:cNvSpPr txBox="1"/>
          <p:nvPr/>
        </p:nvSpPr>
        <p:spPr>
          <a:xfrm>
            <a:off x="205950" y="1067800"/>
            <a:ext cx="2788500" cy="3653700"/>
          </a:xfrm>
          <a:prstGeom prst="rect">
            <a:avLst/>
          </a:prstGeom>
          <a:noFill/>
          <a:ln>
            <a:noFill/>
          </a:ln>
        </p:spPr>
        <p:txBody>
          <a:bodyPr anchorCtr="0" anchor="t" bIns="91425" lIns="91425" spcFirstLastPara="1" rIns="91425" wrap="square" tIns="91425">
            <a:noAutofit/>
          </a:bodyPr>
          <a:lstStyle/>
          <a:p>
            <a:pPr indent="457200" lvl="0" marL="0" marR="0" rtl="0" algn="l">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Coffee Talk is targeted for players who just want to take a break from their hectic daily activities, tiring routinity, and are too overwhelmed with the challenges and adrenaline pumping action of most modern games.</a:t>
            </a:r>
            <a:endParaRPr b="0" i="0" sz="1200" u="none" cap="none" strike="noStrike">
              <a:solidFill>
                <a:srgbClr val="4C1130"/>
              </a:solidFill>
              <a:latin typeface="Merriweather"/>
              <a:ea typeface="Merriweather"/>
              <a:cs typeface="Merriweather"/>
              <a:sym typeface="Merriweather"/>
            </a:endParaRPr>
          </a:p>
          <a:p>
            <a:pPr indent="45720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This is the game for you who just want to rest, chill, and listen to good stories accompanied with relaxing environment, art, and music.</a:t>
            </a:r>
            <a:endParaRPr b="0" i="0" sz="1200" u="none" cap="none" strike="noStrike">
              <a:solidFill>
                <a:srgbClr val="4C1130"/>
              </a:solidFill>
              <a:latin typeface="Merriweather"/>
              <a:ea typeface="Merriweather"/>
              <a:cs typeface="Merriweather"/>
              <a:sym typeface="Merriweather"/>
            </a:endParaRPr>
          </a:p>
        </p:txBody>
      </p:sp>
      <p:pic>
        <p:nvPicPr>
          <p:cNvPr id="180" name="Google Shape;180;p14"/>
          <p:cNvPicPr preferRelativeResize="0"/>
          <p:nvPr/>
        </p:nvPicPr>
        <p:blipFill rotWithShape="1">
          <a:blip r:embed="rId3">
            <a:alphaModFix/>
          </a:blip>
          <a:srcRect b="0" l="0" r="0" t="0"/>
          <a:stretch/>
        </p:blipFill>
        <p:spPr>
          <a:xfrm>
            <a:off x="3473625" y="329262"/>
            <a:ext cx="3566567" cy="1026425"/>
          </a:xfrm>
          <a:prstGeom prst="rect">
            <a:avLst/>
          </a:prstGeom>
          <a:noFill/>
          <a:ln>
            <a:noFill/>
          </a:ln>
          <a:effectLst>
            <a:outerShdw blurRad="57150" rotWithShape="0" algn="bl" dir="5400000" dist="19050">
              <a:srgbClr val="000000">
                <a:alpha val="49803"/>
              </a:srgbClr>
            </a:outerShdw>
          </a:effectLst>
        </p:spPr>
      </p:pic>
      <p:pic>
        <p:nvPicPr>
          <p:cNvPr id="181" name="Google Shape;181;p14"/>
          <p:cNvPicPr preferRelativeResize="0"/>
          <p:nvPr/>
        </p:nvPicPr>
        <p:blipFill rotWithShape="1">
          <a:blip r:embed="rId4">
            <a:alphaModFix/>
          </a:blip>
          <a:srcRect b="0" l="0" r="0" t="0"/>
          <a:stretch/>
        </p:blipFill>
        <p:spPr>
          <a:xfrm>
            <a:off x="3473625" y="2607800"/>
            <a:ext cx="3924300" cy="895350"/>
          </a:xfrm>
          <a:prstGeom prst="rect">
            <a:avLst/>
          </a:prstGeom>
          <a:noFill/>
          <a:ln>
            <a:noFill/>
          </a:ln>
          <a:effectLst>
            <a:outerShdw blurRad="57150" rotWithShape="0" algn="bl" dir="5400000" dist="19050">
              <a:srgbClr val="000000">
                <a:alpha val="49803"/>
              </a:srgbClr>
            </a:outerShdw>
          </a:effectLst>
        </p:spPr>
      </p:pic>
      <p:sp>
        <p:nvSpPr>
          <p:cNvPr id="182" name="Google Shape;182;p14"/>
          <p:cNvSpPr txBox="1"/>
          <p:nvPr/>
        </p:nvSpPr>
        <p:spPr>
          <a:xfrm>
            <a:off x="5272625" y="1536750"/>
            <a:ext cx="3566700" cy="754800"/>
          </a:xfrm>
          <a:prstGeom prst="rect">
            <a:avLst/>
          </a:prstGeom>
          <a:solidFill>
            <a:srgbClr val="F3F3F3"/>
          </a:solid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Merriweather"/>
                <a:ea typeface="Merriweather"/>
                <a:cs typeface="Merriweather"/>
                <a:sym typeface="Merriweather"/>
              </a:rPr>
              <a:t>The Guardian</a:t>
            </a:r>
            <a:r>
              <a:rPr b="0" i="0" lang="en" sz="1400" u="none" cap="none" strike="noStrike">
                <a:solidFill>
                  <a:srgbClr val="000000"/>
                </a:solidFill>
                <a:latin typeface="Arial"/>
                <a:ea typeface="Arial"/>
                <a:cs typeface="Arial"/>
                <a:sym typeface="Arial"/>
              </a:rPr>
              <a:t> </a:t>
            </a:r>
            <a:r>
              <a:rPr b="0" i="0" lang="en" sz="1400" u="sng" cap="none" strike="noStrike">
                <a:solidFill>
                  <a:schemeClr val="hlink"/>
                </a:solidFill>
                <a:latin typeface="Arial"/>
                <a:ea typeface="Arial"/>
                <a:cs typeface="Arial"/>
                <a:sym typeface="Arial"/>
                <a:hlinkClick r:id="rId5"/>
              </a:rPr>
              <a:t>https://www.theguardian.com/games/2018/jul/26/chill-out-relaxing-video-games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3" name="Google Shape;183;p14"/>
          <p:cNvSpPr txBox="1"/>
          <p:nvPr/>
        </p:nvSpPr>
        <p:spPr>
          <a:xfrm>
            <a:off x="4915025" y="3819400"/>
            <a:ext cx="3924300" cy="1026300"/>
          </a:xfrm>
          <a:prstGeom prst="rect">
            <a:avLst/>
          </a:prstGeom>
          <a:solidFill>
            <a:srgbClr val="F7F2E5"/>
          </a:solid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Merriweather"/>
                <a:ea typeface="Merriweather"/>
                <a:cs typeface="Merriweather"/>
                <a:sym typeface="Merriweather"/>
              </a:rPr>
              <a:t>GameIndustry.biz</a:t>
            </a:r>
            <a:endParaRPr b="0" i="1" sz="1400" u="none" cap="none" strike="noStrike">
              <a:solidFill>
                <a:srgbClr val="000000"/>
              </a:solidFill>
              <a:latin typeface="Merriweather"/>
              <a:ea typeface="Merriweather"/>
              <a:cs typeface="Merriweather"/>
              <a:sym typeface="Merriweather"/>
            </a:endParaRPr>
          </a:p>
          <a:p>
            <a:pPr indent="0" lvl="0" marL="0" marR="0" rtl="0" algn="l">
              <a:lnSpc>
                <a:spcPct val="100000"/>
              </a:lnSpc>
              <a:spcBef>
                <a:spcPts val="0"/>
              </a:spcBef>
              <a:spcAft>
                <a:spcPts val="0"/>
              </a:spcAft>
              <a:buClr>
                <a:srgbClr val="000000"/>
              </a:buClr>
              <a:buSzPts val="1400"/>
              <a:buFont typeface="Arial"/>
              <a:buNone/>
            </a:pPr>
            <a:r>
              <a:rPr b="0" i="0" lang="en" sz="1400" u="sng" cap="none" strike="noStrike">
                <a:solidFill>
                  <a:schemeClr val="hlink"/>
                </a:solidFill>
                <a:latin typeface="Arial"/>
                <a:ea typeface="Arial"/>
                <a:cs typeface="Arial"/>
                <a:sym typeface="Arial"/>
                <a:hlinkClick r:id="rId6"/>
              </a:rPr>
              <a:t>https://www.gamesindustry.biz/articles/2018-11-05-how-to-design-for-coziness-and-kindness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87" name="Shape 187"/>
        <p:cNvGrpSpPr/>
        <p:nvPr/>
      </p:nvGrpSpPr>
      <p:grpSpPr>
        <a:xfrm>
          <a:off x="0" y="0"/>
          <a:ext cx="0" cy="0"/>
          <a:chOff x="0" y="0"/>
          <a:chExt cx="0" cy="0"/>
        </a:xfrm>
      </p:grpSpPr>
      <p:pic>
        <p:nvPicPr>
          <p:cNvPr id="188" name="Google Shape;188;p15"/>
          <p:cNvPicPr preferRelativeResize="0"/>
          <p:nvPr/>
        </p:nvPicPr>
        <p:blipFill rotWithShape="1">
          <a:blip r:embed="rId3">
            <a:alphaModFix/>
          </a:blip>
          <a:srcRect b="0" l="0" r="0" t="0"/>
          <a:stretch/>
        </p:blipFill>
        <p:spPr>
          <a:xfrm>
            <a:off x="4663975" y="91713"/>
            <a:ext cx="4392825" cy="3619500"/>
          </a:xfrm>
          <a:prstGeom prst="rect">
            <a:avLst/>
          </a:prstGeom>
          <a:noFill/>
          <a:ln>
            <a:noFill/>
          </a:ln>
          <a:effectLst>
            <a:outerShdw blurRad="57150" rotWithShape="0" algn="bl" dir="5400000" dist="19050">
              <a:srgbClr val="000000">
                <a:alpha val="49803"/>
              </a:srgbClr>
            </a:outerShdw>
          </a:effectLst>
        </p:spPr>
      </p:pic>
      <p:pic>
        <p:nvPicPr>
          <p:cNvPr id="189" name="Google Shape;189;p15"/>
          <p:cNvPicPr preferRelativeResize="0"/>
          <p:nvPr/>
        </p:nvPicPr>
        <p:blipFill rotWithShape="1">
          <a:blip r:embed="rId4">
            <a:alphaModFix/>
          </a:blip>
          <a:srcRect b="0" l="0" r="0" t="0"/>
          <a:stretch/>
        </p:blipFill>
        <p:spPr>
          <a:xfrm>
            <a:off x="3747312" y="2856950"/>
            <a:ext cx="3219550" cy="2244101"/>
          </a:xfrm>
          <a:prstGeom prst="rect">
            <a:avLst/>
          </a:prstGeom>
          <a:noFill/>
          <a:ln>
            <a:noFill/>
          </a:ln>
          <a:effectLst>
            <a:outerShdw blurRad="57150" rotWithShape="0" algn="bl" dir="5400000" dist="19050">
              <a:srgbClr val="000000">
                <a:alpha val="49803"/>
              </a:srgbClr>
            </a:outerShdw>
          </a:effectLst>
        </p:spPr>
      </p:pic>
      <p:sp>
        <p:nvSpPr>
          <p:cNvPr id="190" name="Google Shape;190;p15"/>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5"/>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Market Potential</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192" name="Google Shape;192;p15"/>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193" name="Google Shape;193;p15"/>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194" name="Google Shape;194;p15"/>
          <p:cNvSpPr txBox="1"/>
          <p:nvPr/>
        </p:nvSpPr>
        <p:spPr>
          <a:xfrm>
            <a:off x="205950" y="1067800"/>
            <a:ext cx="2788500" cy="1090200"/>
          </a:xfrm>
          <a:prstGeom prst="rect">
            <a:avLst/>
          </a:prstGeom>
          <a:noFill/>
          <a:ln>
            <a:noFill/>
          </a:ln>
        </p:spPr>
        <p:txBody>
          <a:bodyPr anchorCtr="0" anchor="t" bIns="91425" lIns="91425" spcFirstLastPara="1" rIns="91425" wrap="square" tIns="91425">
            <a:noAutofit/>
          </a:bodyPr>
          <a:lstStyle/>
          <a:p>
            <a:pPr indent="45720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Coffee Talk is filling a niche market that’s craving for more content!</a:t>
            </a:r>
            <a:endParaRPr b="0" i="0" sz="1200" u="none" cap="none" strike="noStrike">
              <a:solidFill>
                <a:srgbClr val="4C1130"/>
              </a:solidFill>
              <a:latin typeface="Merriweather"/>
              <a:ea typeface="Merriweather"/>
              <a:cs typeface="Merriweather"/>
              <a:sym typeface="Merriweather"/>
            </a:endParaRPr>
          </a:p>
        </p:txBody>
      </p:sp>
      <p:pic>
        <p:nvPicPr>
          <p:cNvPr id="195" name="Google Shape;195;p15"/>
          <p:cNvPicPr preferRelativeResize="0"/>
          <p:nvPr/>
        </p:nvPicPr>
        <p:blipFill rotWithShape="1">
          <a:blip r:embed="rId5">
            <a:alphaModFix/>
          </a:blip>
          <a:srcRect b="0" l="0" r="0" t="0"/>
          <a:stretch/>
        </p:blipFill>
        <p:spPr>
          <a:xfrm>
            <a:off x="4759150" y="4059600"/>
            <a:ext cx="4133850" cy="762000"/>
          </a:xfrm>
          <a:prstGeom prst="rect">
            <a:avLst/>
          </a:prstGeom>
          <a:noFill/>
          <a:ln>
            <a:noFill/>
          </a:ln>
          <a:effectLst>
            <a:outerShdw blurRad="57150" rotWithShape="0" algn="bl" dir="5400000" dist="19050">
              <a:srgbClr val="000000"/>
            </a:outerShdw>
          </a:effectLst>
        </p:spPr>
      </p:pic>
      <p:pic>
        <p:nvPicPr>
          <p:cNvPr id="196" name="Google Shape;196;p15"/>
          <p:cNvPicPr preferRelativeResize="0"/>
          <p:nvPr/>
        </p:nvPicPr>
        <p:blipFill rotWithShape="1">
          <a:blip r:embed="rId6">
            <a:alphaModFix/>
          </a:blip>
          <a:srcRect b="0" l="0" r="0" t="0"/>
          <a:stretch/>
        </p:blipFill>
        <p:spPr>
          <a:xfrm>
            <a:off x="3345513" y="2257225"/>
            <a:ext cx="4133850" cy="542925"/>
          </a:xfrm>
          <a:prstGeom prst="rect">
            <a:avLst/>
          </a:prstGeom>
          <a:noFill/>
          <a:ln>
            <a:noFill/>
          </a:ln>
          <a:effectLst>
            <a:outerShdw blurRad="57150" rotWithShape="0" algn="bl" dir="5400000" dist="19050">
              <a:srgbClr val="000000"/>
            </a:outerShdw>
          </a:effectLst>
        </p:spPr>
      </p:pic>
      <p:pic>
        <p:nvPicPr>
          <p:cNvPr id="197" name="Google Shape;197;p15"/>
          <p:cNvPicPr preferRelativeResize="0"/>
          <p:nvPr/>
        </p:nvPicPr>
        <p:blipFill rotWithShape="1">
          <a:blip r:embed="rId7">
            <a:alphaModFix/>
          </a:blip>
          <a:srcRect b="0" l="0" r="0" t="0"/>
          <a:stretch/>
        </p:blipFill>
        <p:spPr>
          <a:xfrm>
            <a:off x="4405402" y="1333650"/>
            <a:ext cx="4391026" cy="866775"/>
          </a:xfrm>
          <a:prstGeom prst="rect">
            <a:avLst/>
          </a:prstGeom>
          <a:noFill/>
          <a:ln>
            <a:noFill/>
          </a:ln>
          <a:effectLst>
            <a:outerShdw blurRad="57150" rotWithShape="0" algn="bl" dir="5400000" dist="19050">
              <a:srgbClr val="000000"/>
            </a:outerShdw>
          </a:effectLst>
        </p:spPr>
      </p:pic>
      <p:pic>
        <p:nvPicPr>
          <p:cNvPr id="198" name="Google Shape;198;p15"/>
          <p:cNvPicPr preferRelativeResize="0"/>
          <p:nvPr/>
        </p:nvPicPr>
        <p:blipFill rotWithShape="1">
          <a:blip r:embed="rId8">
            <a:alphaModFix/>
          </a:blip>
          <a:srcRect b="0" l="0" r="0" t="0"/>
          <a:stretch/>
        </p:blipFill>
        <p:spPr>
          <a:xfrm>
            <a:off x="3196950" y="523212"/>
            <a:ext cx="4391025" cy="752475"/>
          </a:xfrm>
          <a:prstGeom prst="rect">
            <a:avLst/>
          </a:prstGeom>
          <a:noFill/>
          <a:ln>
            <a:noFill/>
          </a:ln>
          <a:effectLst>
            <a:outerShdw blurRad="57150" rotWithShape="0" algn="bl" dir="5400000" dist="19050">
              <a:srgbClr val="000000"/>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2" name="Shape 202"/>
        <p:cNvGrpSpPr/>
        <p:nvPr/>
      </p:nvGrpSpPr>
      <p:grpSpPr>
        <a:xfrm>
          <a:off x="0" y="0"/>
          <a:ext cx="0" cy="0"/>
          <a:chOff x="0" y="0"/>
          <a:chExt cx="0" cy="0"/>
        </a:xfrm>
      </p:grpSpPr>
      <p:sp>
        <p:nvSpPr>
          <p:cNvPr id="203" name="Google Shape;203;p16"/>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4" name="Google Shape;204;p16"/>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Comparison</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205" name="Google Shape;205;p16"/>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206" name="Google Shape;206;p16"/>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207" name="Google Shape;207;p16"/>
          <p:cNvSpPr txBox="1"/>
          <p:nvPr/>
        </p:nvSpPr>
        <p:spPr>
          <a:xfrm>
            <a:off x="205950" y="1067800"/>
            <a:ext cx="2788500" cy="3475200"/>
          </a:xfrm>
          <a:prstGeom prst="rect">
            <a:avLst/>
          </a:prstGeom>
          <a:noFill/>
          <a:ln>
            <a:noFill/>
          </a:ln>
        </p:spPr>
        <p:txBody>
          <a:bodyPr anchorCtr="0" anchor="t" bIns="91425" lIns="91425" spcFirstLastPara="1" rIns="91425" wrap="square" tIns="91425">
            <a:noAutofit/>
          </a:bodyPr>
          <a:lstStyle/>
          <a:p>
            <a:pPr indent="45720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The main comparison for Coffee Talk would be VA-11 HALL-A by Sukeban Games that was released in 2016 has been sold for over 290k copies (by mid 2018).</a:t>
            </a:r>
            <a:endParaRPr b="0" i="0" sz="1200" u="none" cap="none" strike="noStrike">
              <a:solidFill>
                <a:srgbClr val="4C1130"/>
              </a:solidFill>
              <a:latin typeface="Merriweather"/>
              <a:ea typeface="Merriweather"/>
              <a:cs typeface="Merriweather"/>
              <a:sym typeface="Merriweather"/>
            </a:endParaRPr>
          </a:p>
          <a:p>
            <a:pPr indent="45720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Fans have been asking for more games like VA-11 HALL-A, but there are just no one else. (maybe Red Strings Club) but that’s it!</a:t>
            </a:r>
            <a:endParaRPr b="0" i="0" sz="1200" u="none" cap="none" strike="noStrike">
              <a:solidFill>
                <a:srgbClr val="4C1130"/>
              </a:solidFill>
              <a:latin typeface="Merriweather"/>
              <a:ea typeface="Merriweather"/>
              <a:cs typeface="Merriweather"/>
              <a:sym typeface="Merriweather"/>
            </a:endParaRPr>
          </a:p>
        </p:txBody>
      </p:sp>
      <p:pic>
        <p:nvPicPr>
          <p:cNvPr id="208" name="Google Shape;208;p16"/>
          <p:cNvPicPr preferRelativeResize="0"/>
          <p:nvPr/>
        </p:nvPicPr>
        <p:blipFill rotWithShape="1">
          <a:blip r:embed="rId3">
            <a:alphaModFix/>
          </a:blip>
          <a:srcRect b="0" l="0" r="0" t="0"/>
          <a:stretch/>
        </p:blipFill>
        <p:spPr>
          <a:xfrm>
            <a:off x="4550975" y="329250"/>
            <a:ext cx="3297000" cy="3736600"/>
          </a:xfrm>
          <a:prstGeom prst="rect">
            <a:avLst/>
          </a:prstGeom>
          <a:noFill/>
          <a:ln>
            <a:noFill/>
          </a:ln>
          <a:effectLst>
            <a:outerShdw blurRad="57150" rotWithShape="0" algn="bl" dir="5400000" dist="19050">
              <a:srgbClr val="000000">
                <a:alpha val="49803"/>
              </a:srgbClr>
            </a:outerShdw>
          </a:effectLst>
        </p:spPr>
      </p:pic>
      <p:pic>
        <p:nvPicPr>
          <p:cNvPr id="209" name="Google Shape;209;p16"/>
          <p:cNvPicPr preferRelativeResize="0"/>
          <p:nvPr/>
        </p:nvPicPr>
        <p:blipFill rotWithShape="1">
          <a:blip r:embed="rId4">
            <a:alphaModFix/>
          </a:blip>
          <a:srcRect b="0" l="0" r="0" t="0"/>
          <a:stretch/>
        </p:blipFill>
        <p:spPr>
          <a:xfrm>
            <a:off x="3351700" y="4137850"/>
            <a:ext cx="5486874" cy="405150"/>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213" name="Shape 213"/>
        <p:cNvGrpSpPr/>
        <p:nvPr/>
      </p:nvGrpSpPr>
      <p:grpSpPr>
        <a:xfrm>
          <a:off x="0" y="0"/>
          <a:ext cx="0" cy="0"/>
          <a:chOff x="0" y="0"/>
          <a:chExt cx="0" cy="0"/>
        </a:xfrm>
      </p:grpSpPr>
      <p:pic>
        <p:nvPicPr>
          <p:cNvPr id="214" name="Google Shape;214;p17"/>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215" name="Google Shape;215;p17"/>
          <p:cNvSpPr txBox="1"/>
          <p:nvPr/>
        </p:nvSpPr>
        <p:spPr>
          <a:xfrm>
            <a:off x="2095100" y="4093150"/>
            <a:ext cx="49446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Benchmark and Sales Projection</a:t>
            </a:r>
            <a:endParaRPr b="0" i="1" sz="2400" u="none" cap="none" strike="noStrike">
              <a:solidFill>
                <a:srgbClr val="660000"/>
              </a:solidFill>
              <a:latin typeface="Playfair Display"/>
              <a:ea typeface="Playfair Display"/>
              <a:cs typeface="Playfair Display"/>
              <a:sym typeface="Playfair Display"/>
            </a:endParaRPr>
          </a:p>
        </p:txBody>
      </p:sp>
      <p:sp>
        <p:nvSpPr>
          <p:cNvPr id="216" name="Google Shape;216;p17"/>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17" name="Google Shape;217;p17"/>
          <p:cNvPicPr preferRelativeResize="0"/>
          <p:nvPr/>
        </p:nvPicPr>
        <p:blipFill rotWithShape="1">
          <a:blip r:embed="rId4">
            <a:alphaModFix/>
          </a:blip>
          <a:srcRect b="0" l="0" r="0" t="0"/>
          <a:stretch/>
        </p:blipFill>
        <p:spPr>
          <a:xfrm>
            <a:off x="4262600" y="3277950"/>
            <a:ext cx="609600" cy="6096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21" name="Shape 221"/>
        <p:cNvGrpSpPr/>
        <p:nvPr/>
      </p:nvGrpSpPr>
      <p:grpSpPr>
        <a:xfrm>
          <a:off x="0" y="0"/>
          <a:ext cx="0" cy="0"/>
          <a:chOff x="0" y="0"/>
          <a:chExt cx="0" cy="0"/>
        </a:xfrm>
      </p:grpSpPr>
      <p:sp>
        <p:nvSpPr>
          <p:cNvPr id="222" name="Google Shape;222;p18"/>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3" name="Google Shape;223;p18"/>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Benchmark</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224" name="Google Shape;224;p18"/>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225" name="Google Shape;225;p18"/>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226" name="Google Shape;226;p18"/>
          <p:cNvSpPr txBox="1"/>
          <p:nvPr/>
        </p:nvSpPr>
        <p:spPr>
          <a:xfrm>
            <a:off x="205950" y="1067800"/>
            <a:ext cx="2788500" cy="3475200"/>
          </a:xfrm>
          <a:prstGeom prst="rect">
            <a:avLst/>
          </a:prstGeom>
          <a:noFill/>
          <a:ln>
            <a:noFill/>
          </a:ln>
        </p:spPr>
        <p:txBody>
          <a:bodyPr anchorCtr="0" anchor="t" bIns="91425" lIns="91425" spcFirstLastPara="1" rIns="91425" wrap="square" tIns="91425">
            <a:noAutofit/>
          </a:bodyPr>
          <a:lstStyle/>
          <a:p>
            <a:pPr indent="45720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VA-11 HALL-A is an indie bartender simulation with visual novel elements as well as cyberpunk and anime-inspired visuals, developed by Venezuelan studio Sukeban Games and published by Ysbryd Games.</a:t>
            </a:r>
            <a:endParaRPr b="0" i="0" sz="1200" u="none" cap="none" strike="noStrike">
              <a:solidFill>
                <a:srgbClr val="4C1130"/>
              </a:solidFill>
              <a:latin typeface="Merriweather"/>
              <a:ea typeface="Merriweather"/>
              <a:cs typeface="Merriweather"/>
              <a:sym typeface="Merriweather"/>
            </a:endParaRPr>
          </a:p>
        </p:txBody>
      </p:sp>
      <p:pic>
        <p:nvPicPr>
          <p:cNvPr id="227" name="Google Shape;227;p18"/>
          <p:cNvPicPr preferRelativeResize="0"/>
          <p:nvPr/>
        </p:nvPicPr>
        <p:blipFill rotWithShape="1">
          <a:blip r:embed="rId3">
            <a:alphaModFix/>
          </a:blip>
          <a:srcRect b="0" l="0" r="0" t="0"/>
          <a:stretch/>
        </p:blipFill>
        <p:spPr>
          <a:xfrm>
            <a:off x="4045250" y="53063"/>
            <a:ext cx="3886439" cy="2200275"/>
          </a:xfrm>
          <a:prstGeom prst="rect">
            <a:avLst/>
          </a:prstGeom>
          <a:noFill/>
          <a:ln>
            <a:noFill/>
          </a:ln>
          <a:effectLst>
            <a:outerShdw blurRad="57150" rotWithShape="0" algn="bl" dir="5400000" dist="19050">
              <a:srgbClr val="000000">
                <a:alpha val="49803"/>
              </a:srgbClr>
            </a:outerShdw>
          </a:effectLst>
        </p:spPr>
      </p:pic>
      <p:sp>
        <p:nvSpPr>
          <p:cNvPr id="228" name="Google Shape;228;p18"/>
          <p:cNvSpPr txBox="1"/>
          <p:nvPr/>
        </p:nvSpPr>
        <p:spPr>
          <a:xfrm>
            <a:off x="3942325" y="2253325"/>
            <a:ext cx="4092300" cy="2113200"/>
          </a:xfrm>
          <a:prstGeom prst="rect">
            <a:avLst/>
          </a:prstGeom>
          <a:solidFill>
            <a:schemeClr val="lt1"/>
          </a:solidFill>
          <a:ln>
            <a:noFill/>
          </a:ln>
          <a:effectLst>
            <a:outerShdw blurRad="57150" rotWithShape="0" algn="bl" dir="5400000" dist="19050">
              <a:srgbClr val="000000">
                <a:alpha val="49803"/>
              </a:srgbClr>
            </a:outerShdw>
          </a:effectLst>
        </p:spPr>
        <p:txBody>
          <a:bodyPr anchorCtr="0" anchor="t" bIns="91425" lIns="91425" spcFirstLastPara="1" rIns="91425" wrap="square" tIns="91425">
            <a:noAutofit/>
          </a:bodyPr>
          <a:lstStyle/>
          <a:p>
            <a:pPr indent="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Approximately sold 290K copies in 2 years. Data from SteamSpy, SteamPrices, and ArsTechnica.</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Estimated revenue:</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290,000 * ($15*60% ) : $2,610,000</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0"/>
              </a:spcBef>
              <a:spcAft>
                <a:spcPts val="0"/>
              </a:spcAft>
              <a:buClr>
                <a:srgbClr val="000000"/>
              </a:buClr>
              <a:buSzPts val="1200"/>
              <a:buFont typeface="Arial"/>
              <a:buNone/>
            </a:pPr>
            <a:r>
              <a:rPr b="0" i="0" lang="en" sz="1200" u="none" cap="none" strike="noStrike">
                <a:solidFill>
                  <a:srgbClr val="4C1130"/>
                </a:solidFill>
                <a:latin typeface="Merriweather"/>
                <a:ea typeface="Merriweather"/>
                <a:cs typeface="Merriweather"/>
                <a:sym typeface="Merriweather"/>
              </a:rPr>
              <a:t>*60% were taken from the estimated cut after Steam cut and taxes</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p:txBody>
      </p:sp>
      <p:pic>
        <p:nvPicPr>
          <p:cNvPr id="229" name="Google Shape;229;p18"/>
          <p:cNvPicPr preferRelativeResize="0"/>
          <p:nvPr/>
        </p:nvPicPr>
        <p:blipFill rotWithShape="1">
          <a:blip r:embed="rId4">
            <a:alphaModFix/>
          </a:blip>
          <a:srcRect b="0" l="0" r="0" t="0"/>
          <a:stretch/>
        </p:blipFill>
        <p:spPr>
          <a:xfrm>
            <a:off x="4059663" y="4366513"/>
            <a:ext cx="3857624" cy="285750"/>
          </a:xfrm>
          <a:prstGeom prst="rect">
            <a:avLst/>
          </a:prstGeom>
          <a:noFill/>
          <a:ln>
            <a:noFill/>
          </a:ln>
          <a:effectLst>
            <a:outerShdw blurRad="57150" rotWithShape="0" algn="bl" dir="5400000" dist="19050">
              <a:srgbClr val="000000">
                <a:alpha val="49803"/>
              </a:srgbClr>
            </a:outerShdw>
          </a:effectLst>
        </p:spPr>
      </p:pic>
      <p:pic>
        <p:nvPicPr>
          <p:cNvPr id="230" name="Google Shape;230;p18"/>
          <p:cNvPicPr preferRelativeResize="0"/>
          <p:nvPr/>
        </p:nvPicPr>
        <p:blipFill rotWithShape="1">
          <a:blip r:embed="rId5">
            <a:alphaModFix/>
          </a:blip>
          <a:srcRect b="0" l="0" r="0" t="0"/>
          <a:stretch/>
        </p:blipFill>
        <p:spPr>
          <a:xfrm>
            <a:off x="4059650" y="4652238"/>
            <a:ext cx="3857625" cy="438150"/>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234" name="Shape 234"/>
        <p:cNvGrpSpPr/>
        <p:nvPr/>
      </p:nvGrpSpPr>
      <p:grpSpPr>
        <a:xfrm>
          <a:off x="0" y="0"/>
          <a:ext cx="0" cy="0"/>
          <a:chOff x="0" y="0"/>
          <a:chExt cx="0" cy="0"/>
        </a:xfrm>
      </p:grpSpPr>
      <p:sp>
        <p:nvSpPr>
          <p:cNvPr id="235" name="Google Shape;235;p19"/>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9"/>
          <p:cNvSpPr txBox="1"/>
          <p:nvPr/>
        </p:nvSpPr>
        <p:spPr>
          <a:xfrm>
            <a:off x="132150" y="329250"/>
            <a:ext cx="87408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1" lang="en" sz="1800" u="none" cap="none" strike="noStrike">
                <a:solidFill>
                  <a:srgbClr val="660000"/>
                </a:solidFill>
                <a:latin typeface="Playfair Display"/>
                <a:ea typeface="Playfair Display"/>
                <a:cs typeface="Playfair Display"/>
                <a:sym typeface="Playfair Display"/>
              </a:rPr>
              <a:t>Sales Projection (First Two Years)</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chemeClr val="dk1"/>
              </a:buClr>
              <a:buSzPts val="1100"/>
              <a:buFont typeface="Arial"/>
              <a:buNone/>
            </a:pPr>
            <a:r>
              <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1800"/>
              <a:buFont typeface="Arial"/>
              <a:buNone/>
            </a:pPr>
            <a:r>
              <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237" name="Google Shape;237;p19"/>
          <p:cNvCxnSpPr/>
          <p:nvPr/>
        </p:nvCxnSpPr>
        <p:spPr>
          <a:xfrm>
            <a:off x="4198350" y="931975"/>
            <a:ext cx="608400" cy="0"/>
          </a:xfrm>
          <a:prstGeom prst="straightConnector1">
            <a:avLst/>
          </a:prstGeom>
          <a:noFill/>
          <a:ln cap="flat" cmpd="sng" w="9525">
            <a:solidFill>
              <a:schemeClr val="dk2"/>
            </a:solidFill>
            <a:prstDash val="solid"/>
            <a:round/>
            <a:headEnd len="sm" w="sm" type="none"/>
            <a:tailEnd len="sm" w="sm" type="none"/>
          </a:ln>
        </p:spPr>
      </p:cxnSp>
      <p:sp>
        <p:nvSpPr>
          <p:cNvPr id="238" name="Google Shape;238;p19"/>
          <p:cNvSpPr txBox="1"/>
          <p:nvPr/>
        </p:nvSpPr>
        <p:spPr>
          <a:xfrm>
            <a:off x="205950" y="1067800"/>
            <a:ext cx="8667000" cy="14274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Low: 58,000 units sold</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20% of VA-11 HALL-A sales estimation</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Medium: 145,000 units sold</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50% of VA-11 HALL-A sales estimation</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High: 290,000 units sold</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100% of VA-11 HALL-A sales estimation</a:t>
            </a:r>
            <a:endParaRPr b="0" i="0" sz="1200" u="none" cap="none" strike="noStrike">
              <a:solidFill>
                <a:srgbClr val="4C1130"/>
              </a:solidFill>
              <a:latin typeface="Merriweather"/>
              <a:ea typeface="Merriweather"/>
              <a:cs typeface="Merriweather"/>
              <a:sym typeface="Merriweather"/>
            </a:endParaRPr>
          </a:p>
        </p:txBody>
      </p:sp>
      <p:graphicFrame>
        <p:nvGraphicFramePr>
          <p:cNvPr id="239" name="Google Shape;239;p19"/>
          <p:cNvGraphicFramePr/>
          <p:nvPr/>
        </p:nvGraphicFramePr>
        <p:xfrm>
          <a:off x="873525" y="2893200"/>
          <a:ext cx="3000000" cy="3000000"/>
        </p:xfrm>
        <a:graphic>
          <a:graphicData uri="http://schemas.openxmlformats.org/drawingml/2006/table">
            <a:tbl>
              <a:tblPr>
                <a:noFill/>
                <a:tableStyleId>{B7F10064-7671-419F-B54A-93C9FE014743}</a:tableStyleId>
              </a:tblPr>
              <a:tblGrid>
                <a:gridCol w="1209675"/>
                <a:gridCol w="1209675"/>
                <a:gridCol w="905475"/>
                <a:gridCol w="1513875"/>
                <a:gridCol w="1209675"/>
                <a:gridCol w="1209675"/>
              </a:tblGrid>
              <a:tr h="628650">
                <a:tc>
                  <a:txBody>
                    <a:bodyPr/>
                    <a:lstStyle/>
                    <a:p>
                      <a:pPr indent="0" lvl="0" marL="0" marR="0" rtl="0" algn="ctr">
                        <a:lnSpc>
                          <a:spcPct val="120000"/>
                        </a:lnSpc>
                        <a:spcBef>
                          <a:spcPts val="0"/>
                        </a:spcBef>
                        <a:spcAft>
                          <a:spcPts val="0"/>
                        </a:spcAft>
                        <a:buClr>
                          <a:srgbClr val="000000"/>
                        </a:buClr>
                        <a:buSzPts val="1400"/>
                        <a:buFont typeface="Arial"/>
                        <a:buNone/>
                      </a:pPr>
                      <a:r>
                        <a:rPr b="1" lang="en" sz="1400" u="none" cap="none" strike="noStrike">
                          <a:solidFill>
                            <a:srgbClr val="F7F2E5"/>
                          </a:solidFill>
                          <a:latin typeface="Lato"/>
                          <a:ea typeface="Lato"/>
                          <a:cs typeface="Lato"/>
                          <a:sym typeface="Lato"/>
                        </a:rPr>
                        <a:t>Projection</a:t>
                      </a:r>
                      <a:endParaRPr b="1" sz="1400" u="none" cap="none" strike="noStrike">
                        <a:solidFill>
                          <a:srgbClr val="F7F2E5"/>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66666"/>
                    </a:solidFill>
                  </a:tcPr>
                </a:tc>
                <a:tc>
                  <a:txBody>
                    <a:bodyPr/>
                    <a:lstStyle/>
                    <a:p>
                      <a:pPr indent="0" lvl="0" marL="0" marR="0" rtl="0" algn="ctr">
                        <a:lnSpc>
                          <a:spcPct val="120000"/>
                        </a:lnSpc>
                        <a:spcBef>
                          <a:spcPts val="0"/>
                        </a:spcBef>
                        <a:spcAft>
                          <a:spcPts val="0"/>
                        </a:spcAft>
                        <a:buClr>
                          <a:srgbClr val="000000"/>
                        </a:buClr>
                        <a:buSzPts val="1400"/>
                        <a:buFont typeface="Arial"/>
                        <a:buNone/>
                      </a:pPr>
                      <a:r>
                        <a:rPr b="1" lang="en" sz="1400" u="none" cap="none" strike="noStrike">
                          <a:solidFill>
                            <a:srgbClr val="F7F2E5"/>
                          </a:solidFill>
                          <a:latin typeface="Lato"/>
                          <a:ea typeface="Lato"/>
                          <a:cs typeface="Lato"/>
                          <a:sym typeface="Lato"/>
                        </a:rPr>
                        <a:t>Units sold</a:t>
                      </a:r>
                      <a:endParaRPr b="1" sz="1400" u="none" cap="none" strike="noStrike">
                        <a:solidFill>
                          <a:srgbClr val="F7F2E5"/>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66666"/>
                    </a:solidFill>
                  </a:tcPr>
                </a:tc>
                <a:tc>
                  <a:txBody>
                    <a:bodyPr/>
                    <a:lstStyle/>
                    <a:p>
                      <a:pPr indent="0" lvl="0" marL="0" marR="0" rtl="0" algn="ctr">
                        <a:lnSpc>
                          <a:spcPct val="120000"/>
                        </a:lnSpc>
                        <a:spcBef>
                          <a:spcPts val="0"/>
                        </a:spcBef>
                        <a:spcAft>
                          <a:spcPts val="0"/>
                        </a:spcAft>
                        <a:buClr>
                          <a:srgbClr val="000000"/>
                        </a:buClr>
                        <a:buSzPts val="1400"/>
                        <a:buFont typeface="Arial"/>
                        <a:buNone/>
                      </a:pPr>
                      <a:r>
                        <a:rPr b="1" lang="en" sz="1400" u="none" cap="none" strike="noStrike">
                          <a:solidFill>
                            <a:srgbClr val="F7F2E5"/>
                          </a:solidFill>
                          <a:latin typeface="Lato"/>
                          <a:ea typeface="Lato"/>
                          <a:cs typeface="Lato"/>
                          <a:sym typeface="Lato"/>
                        </a:rPr>
                        <a:t>Price (mobile)</a:t>
                      </a:r>
                      <a:endParaRPr b="1" sz="1400" u="none" cap="none" strike="noStrike">
                        <a:solidFill>
                          <a:srgbClr val="F7F2E5"/>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66666"/>
                    </a:solidFill>
                  </a:tcPr>
                </a:tc>
                <a:tc>
                  <a:txBody>
                    <a:bodyPr/>
                    <a:lstStyle/>
                    <a:p>
                      <a:pPr indent="0" lvl="0" marL="0" marR="0" rtl="0" algn="ctr">
                        <a:lnSpc>
                          <a:spcPct val="120000"/>
                        </a:lnSpc>
                        <a:spcBef>
                          <a:spcPts val="0"/>
                        </a:spcBef>
                        <a:spcAft>
                          <a:spcPts val="0"/>
                        </a:spcAft>
                        <a:buClr>
                          <a:srgbClr val="000000"/>
                        </a:buClr>
                        <a:buSzPts val="1400"/>
                        <a:buFont typeface="Arial"/>
                        <a:buNone/>
                      </a:pPr>
                      <a:r>
                        <a:rPr b="1" lang="en" sz="1400" u="none" cap="none" strike="noStrike">
                          <a:solidFill>
                            <a:srgbClr val="F7F2E5"/>
                          </a:solidFill>
                          <a:latin typeface="Lato"/>
                          <a:ea typeface="Lato"/>
                          <a:cs typeface="Lato"/>
                          <a:sym typeface="Lato"/>
                        </a:rPr>
                        <a:t>Price (console or mobile with IAP)</a:t>
                      </a:r>
                      <a:endParaRPr b="1" sz="1400" u="none" cap="none" strike="noStrike">
                        <a:solidFill>
                          <a:srgbClr val="F7F2E5"/>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66666"/>
                    </a:solidFill>
                  </a:tcPr>
                </a:tc>
                <a:tc>
                  <a:txBody>
                    <a:bodyPr/>
                    <a:lstStyle/>
                    <a:p>
                      <a:pPr indent="0" lvl="0" marL="0" marR="0" rtl="0" algn="ctr">
                        <a:lnSpc>
                          <a:spcPct val="120000"/>
                        </a:lnSpc>
                        <a:spcBef>
                          <a:spcPts val="0"/>
                        </a:spcBef>
                        <a:spcAft>
                          <a:spcPts val="0"/>
                        </a:spcAft>
                        <a:buClr>
                          <a:srgbClr val="000000"/>
                        </a:buClr>
                        <a:buSzPts val="1400"/>
                        <a:buFont typeface="Arial"/>
                        <a:buNone/>
                      </a:pPr>
                      <a:r>
                        <a:rPr b="1" lang="en" sz="1400" u="none" cap="none" strike="noStrike">
                          <a:solidFill>
                            <a:srgbClr val="F7F2E5"/>
                          </a:solidFill>
                          <a:latin typeface="Lato"/>
                          <a:ea typeface="Lato"/>
                          <a:cs typeface="Lato"/>
                          <a:sym typeface="Lato"/>
                        </a:rPr>
                        <a:t>Revenue (mobile)</a:t>
                      </a:r>
                      <a:endParaRPr b="1" sz="1400" u="none" cap="none" strike="noStrike">
                        <a:solidFill>
                          <a:srgbClr val="F7F2E5"/>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66666"/>
                    </a:solidFill>
                  </a:tcPr>
                </a:tc>
                <a:tc>
                  <a:txBody>
                    <a:bodyPr/>
                    <a:lstStyle/>
                    <a:p>
                      <a:pPr indent="0" lvl="0" marL="0" marR="0" rtl="0" algn="ctr">
                        <a:lnSpc>
                          <a:spcPct val="120000"/>
                        </a:lnSpc>
                        <a:spcBef>
                          <a:spcPts val="0"/>
                        </a:spcBef>
                        <a:spcAft>
                          <a:spcPts val="0"/>
                        </a:spcAft>
                        <a:buClr>
                          <a:srgbClr val="000000"/>
                        </a:buClr>
                        <a:buSzPts val="1300"/>
                        <a:buFont typeface="Arial"/>
                        <a:buNone/>
                      </a:pPr>
                      <a:r>
                        <a:rPr b="1" lang="en" sz="1300" u="none" cap="none" strike="noStrike">
                          <a:solidFill>
                            <a:srgbClr val="F7F2E5"/>
                          </a:solidFill>
                          <a:latin typeface="Lato"/>
                          <a:ea typeface="Lato"/>
                          <a:cs typeface="Lato"/>
                          <a:sym typeface="Lato"/>
                        </a:rPr>
                        <a:t>Revenue (full or with IAP)</a:t>
                      </a:r>
                      <a:endParaRPr b="1" sz="1300" u="none" cap="none" strike="noStrike">
                        <a:solidFill>
                          <a:srgbClr val="F7F2E5"/>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666666"/>
                    </a:solidFill>
                  </a:tcPr>
                </a:tc>
              </a:tr>
              <a:tr h="409575">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Low</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58,000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rowSpan="3">
                  <a:txBody>
                    <a:bodyPr/>
                    <a:lstStyle/>
                    <a:p>
                      <a:pPr indent="0" lvl="0" marL="0" marR="0" rtl="0" algn="ctr">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$5</a:t>
                      </a:r>
                      <a:endParaRPr sz="1400" u="none" cap="none" strike="noStrike">
                        <a:solidFill>
                          <a:srgbClr val="660000"/>
                        </a:solidFill>
                        <a:latin typeface="Lato"/>
                        <a:ea typeface="Lato"/>
                        <a:cs typeface="Lato"/>
                        <a:sym typeface="Lato"/>
                      </a:endParaRPr>
                    </a:p>
                  </a:txBody>
                  <a:tcPr marT="95250" marB="95250" marR="95250" marL="9525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rowSpan="3">
                  <a:txBody>
                    <a:bodyPr/>
                    <a:lstStyle/>
                    <a:p>
                      <a:pPr indent="0" lvl="0" marL="0" marR="0" rtl="0" algn="ctr">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$15</a:t>
                      </a:r>
                      <a:endParaRPr sz="1400" u="none" cap="none" strike="noStrike">
                        <a:solidFill>
                          <a:srgbClr val="660000"/>
                        </a:solidFill>
                        <a:latin typeface="Lato"/>
                        <a:ea typeface="Lato"/>
                        <a:cs typeface="Lato"/>
                        <a:sym typeface="Lato"/>
                      </a:endParaRPr>
                    </a:p>
                  </a:txBody>
                  <a:tcPr marT="95250" marB="95250" marR="95250" marL="95250"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$290,000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$522,000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9575">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Medium</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145,000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c vMerge="1"/>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$725,000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$1,305,000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r h="409575">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High</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290,000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vMerge="1"/>
                <a:tc vMerge="1"/>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$1,450,000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c>
                  <a:txBody>
                    <a:bodyPr/>
                    <a:lstStyle/>
                    <a:p>
                      <a:pPr indent="0" lvl="0" marL="0" marR="0" rtl="0" algn="l">
                        <a:lnSpc>
                          <a:spcPct val="120000"/>
                        </a:lnSpc>
                        <a:spcBef>
                          <a:spcPts val="0"/>
                        </a:spcBef>
                        <a:spcAft>
                          <a:spcPts val="0"/>
                        </a:spcAft>
                        <a:buClr>
                          <a:srgbClr val="000000"/>
                        </a:buClr>
                        <a:buSzPts val="1400"/>
                        <a:buFont typeface="Arial"/>
                        <a:buNone/>
                      </a:pPr>
                      <a:r>
                        <a:rPr lang="en" sz="1400" u="none" cap="none" strike="noStrike">
                          <a:solidFill>
                            <a:srgbClr val="660000"/>
                          </a:solidFill>
                          <a:latin typeface="Lato"/>
                          <a:ea typeface="Lato"/>
                          <a:cs typeface="Lato"/>
                          <a:sym typeface="Lato"/>
                        </a:rPr>
                        <a:t>$2,610,000</a:t>
                      </a:r>
                      <a:endParaRPr sz="1400" u="none" cap="none" strike="noStrike">
                        <a:solidFill>
                          <a:srgbClr val="660000"/>
                        </a:solidFill>
                        <a:latin typeface="Lato"/>
                        <a:ea typeface="Lato"/>
                        <a:cs typeface="Lato"/>
                        <a:sym typeface="Lato"/>
                      </a:endParaRPr>
                    </a:p>
                  </a:txBody>
                  <a:tcPr marT="95250" marB="95250" marR="95250" marL="95250">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tcPr>
                </a:tc>
              </a:tr>
            </a:tbl>
          </a:graphicData>
        </a:graphic>
      </p:graphicFrame>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243" name="Shape 243"/>
        <p:cNvGrpSpPr/>
        <p:nvPr/>
      </p:nvGrpSpPr>
      <p:grpSpPr>
        <a:xfrm>
          <a:off x="0" y="0"/>
          <a:ext cx="0" cy="0"/>
          <a:chOff x="0" y="0"/>
          <a:chExt cx="0" cy="0"/>
        </a:xfrm>
      </p:grpSpPr>
      <p:pic>
        <p:nvPicPr>
          <p:cNvPr id="244" name="Google Shape;244;p20"/>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245" name="Google Shape;245;p20"/>
          <p:cNvSpPr txBox="1"/>
          <p:nvPr/>
        </p:nvSpPr>
        <p:spPr>
          <a:xfrm>
            <a:off x="2095100" y="4093150"/>
            <a:ext cx="49446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Current State of the Game</a:t>
            </a:r>
            <a:endParaRPr b="0" i="1" sz="2400" u="none" cap="none" strike="noStrike">
              <a:solidFill>
                <a:srgbClr val="660000"/>
              </a:solidFill>
              <a:latin typeface="Playfair Display"/>
              <a:ea typeface="Playfair Display"/>
              <a:cs typeface="Playfair Display"/>
              <a:sym typeface="Playfair Display"/>
            </a:endParaRPr>
          </a:p>
        </p:txBody>
      </p:sp>
      <p:sp>
        <p:nvSpPr>
          <p:cNvPr id="246" name="Google Shape;246;p20"/>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47" name="Google Shape;247;p20"/>
          <p:cNvPicPr preferRelativeResize="0"/>
          <p:nvPr/>
        </p:nvPicPr>
        <p:blipFill rotWithShape="1">
          <a:blip r:embed="rId4">
            <a:alphaModFix/>
          </a:blip>
          <a:srcRect b="0" l="0" r="0" t="0"/>
          <a:stretch/>
        </p:blipFill>
        <p:spPr>
          <a:xfrm>
            <a:off x="4262600" y="3277950"/>
            <a:ext cx="609600" cy="6096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51" name="Shape 251"/>
        <p:cNvGrpSpPr/>
        <p:nvPr/>
      </p:nvGrpSpPr>
      <p:grpSpPr>
        <a:xfrm>
          <a:off x="0" y="0"/>
          <a:ext cx="0" cy="0"/>
          <a:chOff x="0" y="0"/>
          <a:chExt cx="0" cy="0"/>
        </a:xfrm>
      </p:grpSpPr>
      <p:sp>
        <p:nvSpPr>
          <p:cNvPr id="252" name="Google Shape;252;p21"/>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3" name="Google Shape;253;p21"/>
          <p:cNvSpPr txBox="1"/>
          <p:nvPr/>
        </p:nvSpPr>
        <p:spPr>
          <a:xfrm>
            <a:off x="132150" y="329250"/>
            <a:ext cx="29361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chemeClr val="dk1"/>
              </a:buClr>
              <a:buSzPts val="1100"/>
              <a:buFont typeface="Arial"/>
              <a:buNone/>
            </a:pPr>
            <a:r>
              <a:rPr b="0" i="1" lang="en" sz="1800" u="none" cap="none" strike="noStrike">
                <a:solidFill>
                  <a:srgbClr val="660000"/>
                </a:solidFill>
                <a:latin typeface="Playfair Display"/>
                <a:ea typeface="Playfair Display"/>
                <a:cs typeface="Playfair Display"/>
                <a:sym typeface="Playfair Display"/>
              </a:rPr>
              <a:t>Statistics</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1800"/>
              <a:buFont typeface="Arial"/>
              <a:buNone/>
            </a:pPr>
            <a:r>
              <a:t/>
            </a:r>
            <a:endParaRPr b="0" i="1" sz="18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15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cxnSp>
        <p:nvCxnSpPr>
          <p:cNvPr id="254" name="Google Shape;254;p21"/>
          <p:cNvCxnSpPr/>
          <p:nvPr/>
        </p:nvCxnSpPr>
        <p:spPr>
          <a:xfrm>
            <a:off x="1296000" y="984350"/>
            <a:ext cx="608400" cy="0"/>
          </a:xfrm>
          <a:prstGeom prst="straightConnector1">
            <a:avLst/>
          </a:prstGeom>
          <a:noFill/>
          <a:ln cap="flat" cmpd="sng" w="9525">
            <a:solidFill>
              <a:schemeClr val="dk2"/>
            </a:solidFill>
            <a:prstDash val="solid"/>
            <a:round/>
            <a:headEnd len="sm" w="sm" type="none"/>
            <a:tailEnd len="sm" w="sm" type="none"/>
          </a:ln>
        </p:spPr>
      </p:cxnSp>
      <p:cxnSp>
        <p:nvCxnSpPr>
          <p:cNvPr id="255" name="Google Shape;255;p21"/>
          <p:cNvCxnSpPr/>
          <p:nvPr/>
        </p:nvCxnSpPr>
        <p:spPr>
          <a:xfrm>
            <a:off x="1296000" y="4623500"/>
            <a:ext cx="608400" cy="0"/>
          </a:xfrm>
          <a:prstGeom prst="straightConnector1">
            <a:avLst/>
          </a:prstGeom>
          <a:noFill/>
          <a:ln cap="flat" cmpd="sng" w="9525">
            <a:solidFill>
              <a:schemeClr val="dk2"/>
            </a:solidFill>
            <a:prstDash val="solid"/>
            <a:round/>
            <a:headEnd len="sm" w="sm" type="none"/>
            <a:tailEnd len="sm" w="sm" type="none"/>
          </a:ln>
        </p:spPr>
      </p:cxnSp>
      <p:sp>
        <p:nvSpPr>
          <p:cNvPr id="256" name="Google Shape;256;p21"/>
          <p:cNvSpPr txBox="1"/>
          <p:nvPr/>
        </p:nvSpPr>
        <p:spPr>
          <a:xfrm>
            <a:off x="205950" y="1067800"/>
            <a:ext cx="2788500" cy="3475200"/>
          </a:xfrm>
          <a:prstGeom prst="rect">
            <a:avLst/>
          </a:prstGeom>
          <a:noFill/>
          <a:ln>
            <a:noFill/>
          </a:ln>
        </p:spPr>
        <p:txBody>
          <a:bodyPr anchorCtr="0" anchor="t" bIns="91425" lIns="91425" spcFirstLastPara="1" rIns="91425" wrap="square" tIns="91425">
            <a:noAutofit/>
          </a:bodyPr>
          <a:lstStyle/>
          <a:p>
            <a:pPr indent="457200" lvl="0" marL="0" marR="0" rtl="0" algn="l">
              <a:lnSpc>
                <a:spcPct val="150000"/>
              </a:lnSpc>
              <a:spcBef>
                <a:spcPts val="0"/>
              </a:spcBef>
              <a:spcAft>
                <a:spcPts val="0"/>
              </a:spcAft>
              <a:buClr>
                <a:schemeClr val="dk1"/>
              </a:buClr>
              <a:buSzPts val="1100"/>
              <a:buFont typeface="Arial"/>
              <a:buNone/>
            </a:pPr>
            <a:r>
              <a:rPr b="0" i="0" lang="en" sz="1200" u="none" cap="none" strike="noStrike">
                <a:solidFill>
                  <a:srgbClr val="4C1130"/>
                </a:solidFill>
                <a:latin typeface="Merriweather"/>
                <a:ea typeface="Merriweather"/>
                <a:cs typeface="Merriweather"/>
                <a:sym typeface="Merriweather"/>
              </a:rPr>
              <a:t>With zero marketing budgets and a demo that is only available in three places (Steam, itch.io, and Gamejolt), Coffee Talk already garnered positive responses.</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Steam wishlist: 5,295</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Demo downloads across 3 platforms: 11,518</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5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Donate-what-you-want demo earned $757</a:t>
            </a:r>
            <a:endParaRPr b="0" i="0" sz="1200" u="none" cap="none" strike="noStrike">
              <a:solidFill>
                <a:srgbClr val="4C1130"/>
              </a:solidFill>
              <a:latin typeface="Merriweather"/>
              <a:ea typeface="Merriweather"/>
              <a:cs typeface="Merriweather"/>
              <a:sym typeface="Merriweather"/>
            </a:endParaRPr>
          </a:p>
          <a:p>
            <a:pPr indent="0" lvl="0" marL="0" marR="0" rtl="0" algn="l">
              <a:lnSpc>
                <a:spcPct val="150000"/>
              </a:lnSpc>
              <a:spcBef>
                <a:spcPts val="0"/>
              </a:spcBef>
              <a:spcAft>
                <a:spcPts val="0"/>
              </a:spcAft>
              <a:buClr>
                <a:schemeClr val="dk1"/>
              </a:buClr>
              <a:buSzPts val="1100"/>
              <a:buFont typeface="Arial"/>
              <a:buNone/>
            </a:pPr>
            <a:r>
              <a:rPr b="0" i="0" lang="en" sz="1200" u="none" cap="none" strike="noStrike">
                <a:solidFill>
                  <a:srgbClr val="4C1130"/>
                </a:solidFill>
                <a:latin typeface="Merriweather"/>
                <a:ea typeface="Merriweather"/>
                <a:cs typeface="Merriweather"/>
                <a:sym typeface="Merriweather"/>
              </a:rPr>
              <a:t>Data as of Mar 2019</a:t>
            </a:r>
            <a:endParaRPr b="0" i="0" sz="1200" u="none" cap="none" strike="noStrike">
              <a:solidFill>
                <a:srgbClr val="4C1130"/>
              </a:solidFill>
              <a:latin typeface="Merriweather"/>
              <a:ea typeface="Merriweather"/>
              <a:cs typeface="Merriweather"/>
              <a:sym typeface="Merriweather"/>
            </a:endParaRPr>
          </a:p>
          <a:p>
            <a:pPr indent="0" lvl="0" marL="0" marR="0" rtl="0" algn="l">
              <a:lnSpc>
                <a:spcPct val="150000"/>
              </a:lnSpc>
              <a:spcBef>
                <a:spcPts val="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p:txBody>
      </p:sp>
      <p:pic>
        <p:nvPicPr>
          <p:cNvPr id="257" name="Google Shape;257;p21"/>
          <p:cNvPicPr preferRelativeResize="0"/>
          <p:nvPr/>
        </p:nvPicPr>
        <p:blipFill rotWithShape="1">
          <a:blip r:embed="rId3">
            <a:alphaModFix/>
          </a:blip>
          <a:srcRect b="0" l="0" r="0" t="0"/>
          <a:stretch/>
        </p:blipFill>
        <p:spPr>
          <a:xfrm>
            <a:off x="4501425" y="1300050"/>
            <a:ext cx="3295651" cy="2152650"/>
          </a:xfrm>
          <a:prstGeom prst="rect">
            <a:avLst/>
          </a:prstGeom>
          <a:noFill/>
          <a:ln>
            <a:noFill/>
          </a:ln>
          <a:effectLst>
            <a:outerShdw blurRad="57150" rotWithShape="0" algn="bl" dir="5400000" dist="19050">
              <a:srgbClr val="000000">
                <a:alpha val="49803"/>
              </a:srgbClr>
            </a:outerShdw>
          </a:effectLst>
        </p:spPr>
      </p:pic>
      <p:pic>
        <p:nvPicPr>
          <p:cNvPr id="258" name="Google Shape;258;p21"/>
          <p:cNvPicPr preferRelativeResize="0"/>
          <p:nvPr/>
        </p:nvPicPr>
        <p:blipFill rotWithShape="1">
          <a:blip r:embed="rId4">
            <a:alphaModFix/>
          </a:blip>
          <a:srcRect b="0" l="0" r="0" t="0"/>
          <a:stretch/>
        </p:blipFill>
        <p:spPr>
          <a:xfrm>
            <a:off x="4501425" y="3615050"/>
            <a:ext cx="3295650" cy="1047750"/>
          </a:xfrm>
          <a:prstGeom prst="rect">
            <a:avLst/>
          </a:prstGeom>
          <a:noFill/>
          <a:ln>
            <a:noFill/>
          </a:ln>
          <a:effectLst>
            <a:outerShdw blurRad="57150" rotWithShape="0" algn="bl" dir="5400000" dist="19050">
              <a:srgbClr val="000000">
                <a:alpha val="49803"/>
              </a:srgbClr>
            </a:outerShdw>
          </a:effectLst>
        </p:spPr>
      </p:pic>
      <p:pic>
        <p:nvPicPr>
          <p:cNvPr id="259" name="Google Shape;259;p21"/>
          <p:cNvPicPr preferRelativeResize="0"/>
          <p:nvPr/>
        </p:nvPicPr>
        <p:blipFill rotWithShape="1">
          <a:blip r:embed="rId5">
            <a:alphaModFix/>
          </a:blip>
          <a:srcRect b="0" l="0" r="0" t="0"/>
          <a:stretch/>
        </p:blipFill>
        <p:spPr>
          <a:xfrm>
            <a:off x="3219100" y="683050"/>
            <a:ext cx="5886374" cy="423250"/>
          </a:xfrm>
          <a:prstGeom prst="rect">
            <a:avLst/>
          </a:prstGeom>
          <a:noFill/>
          <a:ln>
            <a:noFill/>
          </a:ln>
          <a:effectLst>
            <a:outerShdw blurRad="57150" rotWithShape="0" algn="bl" dir="5400000" dist="19050">
              <a:srgbClr val="000000">
                <a:alpha val="49803"/>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263" name="Shape 263"/>
        <p:cNvGrpSpPr/>
        <p:nvPr/>
      </p:nvGrpSpPr>
      <p:grpSpPr>
        <a:xfrm>
          <a:off x="0" y="0"/>
          <a:ext cx="0" cy="0"/>
          <a:chOff x="0" y="0"/>
          <a:chExt cx="0" cy="0"/>
        </a:xfrm>
      </p:grpSpPr>
      <p:sp>
        <p:nvSpPr>
          <p:cNvPr id="264" name="Google Shape;264;p22"/>
          <p:cNvSpPr txBox="1"/>
          <p:nvPr/>
        </p:nvSpPr>
        <p:spPr>
          <a:xfrm>
            <a:off x="0" y="125"/>
            <a:ext cx="3154500" cy="5143500"/>
          </a:xfrm>
          <a:prstGeom prst="rect">
            <a:avLst/>
          </a:prstGeom>
          <a:solidFill>
            <a:srgbClr val="F7F2E5"/>
          </a:solid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22"/>
          <p:cNvSpPr txBox="1"/>
          <p:nvPr/>
        </p:nvSpPr>
        <p:spPr>
          <a:xfrm>
            <a:off x="132150" y="329250"/>
            <a:ext cx="83844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What the internet said about Coffee Talk?</a:t>
            </a:r>
            <a:endParaRPr b="0" i="1" sz="1800" u="none" cap="none" strike="noStrike">
              <a:solidFill>
                <a:srgbClr val="660000"/>
              </a:solidFill>
              <a:latin typeface="Playfair Display"/>
              <a:ea typeface="Playfair Display"/>
              <a:cs typeface="Playfair Display"/>
              <a:sym typeface="Playfair Display"/>
            </a:endParaRPr>
          </a:p>
        </p:txBody>
      </p:sp>
      <p:cxnSp>
        <p:nvCxnSpPr>
          <p:cNvPr id="266" name="Google Shape;266;p22"/>
          <p:cNvCxnSpPr/>
          <p:nvPr/>
        </p:nvCxnSpPr>
        <p:spPr>
          <a:xfrm>
            <a:off x="4267800" y="842850"/>
            <a:ext cx="608400" cy="0"/>
          </a:xfrm>
          <a:prstGeom prst="straightConnector1">
            <a:avLst/>
          </a:prstGeom>
          <a:noFill/>
          <a:ln cap="flat" cmpd="sng" w="9525">
            <a:solidFill>
              <a:schemeClr val="dk2"/>
            </a:solidFill>
            <a:prstDash val="solid"/>
            <a:round/>
            <a:headEnd len="sm" w="sm" type="none"/>
            <a:tailEnd len="sm" w="sm" type="none"/>
          </a:ln>
        </p:spPr>
      </p:cxnSp>
      <p:cxnSp>
        <p:nvCxnSpPr>
          <p:cNvPr id="267" name="Google Shape;267;p22"/>
          <p:cNvCxnSpPr/>
          <p:nvPr/>
        </p:nvCxnSpPr>
        <p:spPr>
          <a:xfrm>
            <a:off x="4267800" y="4707300"/>
            <a:ext cx="608400" cy="0"/>
          </a:xfrm>
          <a:prstGeom prst="straightConnector1">
            <a:avLst/>
          </a:prstGeom>
          <a:noFill/>
          <a:ln cap="flat" cmpd="sng" w="9525">
            <a:solidFill>
              <a:schemeClr val="dk2"/>
            </a:solidFill>
            <a:prstDash val="solid"/>
            <a:round/>
            <a:headEnd len="sm" w="sm" type="none"/>
            <a:tailEnd len="sm" w="sm" type="none"/>
          </a:ln>
        </p:spPr>
      </p:cxnSp>
      <p:sp>
        <p:nvSpPr>
          <p:cNvPr id="268" name="Google Shape;268;p22"/>
          <p:cNvSpPr txBox="1"/>
          <p:nvPr/>
        </p:nvSpPr>
        <p:spPr>
          <a:xfrm>
            <a:off x="205950" y="1067800"/>
            <a:ext cx="8310600" cy="34752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“Coffee Talk grounds you in a place and makes you feel comfortable. You’re just working a shift and shooting the shit. It’s not glamorous, but it feels right.” -</a:t>
            </a:r>
            <a:r>
              <a:rPr b="0" i="0" lang="en" sz="1200" u="none" cap="none" strike="noStrike">
                <a:solidFill>
                  <a:srgbClr val="4C1130"/>
                </a:solidFill>
                <a:uFill>
                  <a:noFill/>
                </a:uFill>
                <a:latin typeface="Merriweather"/>
                <a:ea typeface="Merriweather"/>
                <a:cs typeface="Merriweather"/>
                <a:sym typeface="Merriweather"/>
                <a:hlinkClick r:id="rId3">
                  <a:extLst>
                    <a:ext uri="{A12FA001-AC4F-418D-AE19-62706E023703}">
                      <ahyp:hlinkClr val="tx"/>
                    </a:ext>
                  </a:extLst>
                </a:hlinkClick>
              </a:rPr>
              <a:t> </a:t>
            </a:r>
            <a:r>
              <a:rPr b="0" i="0" lang="en" sz="1200" u="sng" cap="none" strike="noStrike">
                <a:solidFill>
                  <a:srgbClr val="4C1130"/>
                </a:solidFill>
                <a:latin typeface="Merriweather"/>
                <a:ea typeface="Merriweather"/>
                <a:cs typeface="Merriweather"/>
                <a:sym typeface="Merriweather"/>
                <a:hlinkClick r:id="rId4">
                  <a:extLst>
                    <a:ext uri="{A12FA001-AC4F-418D-AE19-62706E023703}">
                      <ahyp:hlinkClr val="tx"/>
                    </a:ext>
                  </a:extLst>
                </a:hlinkClick>
              </a:rPr>
              <a:t>Kotaku</a:t>
            </a:r>
            <a:endParaRPr b="0" i="0" sz="1200" u="sng" cap="none" strike="noStrike">
              <a:solidFill>
                <a:srgbClr val="4C1130"/>
              </a:solidFill>
              <a:latin typeface="Merriweather"/>
              <a:ea typeface="Merriweather"/>
              <a:cs typeface="Merriweather"/>
              <a:sym typeface="Merriweather"/>
              <a:hlinkClick r:id="rId5">
                <a:extLst>
                  <a:ext uri="{A12FA001-AC4F-418D-AE19-62706E023703}">
                    <ahyp:hlinkClr val="tx"/>
                  </a:ext>
                </a:extLst>
              </a:hlinkClick>
            </a:endParaRPr>
          </a:p>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“Coffee Talk feels like the kind of game that you could think of as your own refuge space, and that sort of experience is just as valuable as any big budget mega-game that sells itself on maximum interactivity or realistic graphical fidelity.” -</a:t>
            </a:r>
            <a:r>
              <a:rPr b="0" i="0" lang="en" sz="1200" u="none" cap="none" strike="noStrike">
                <a:solidFill>
                  <a:srgbClr val="4C1130"/>
                </a:solidFill>
                <a:uFill>
                  <a:noFill/>
                </a:uFill>
                <a:latin typeface="Merriweather"/>
                <a:ea typeface="Merriweather"/>
                <a:cs typeface="Merriweather"/>
                <a:sym typeface="Merriweather"/>
                <a:hlinkClick r:id="rId6">
                  <a:extLst>
                    <a:ext uri="{A12FA001-AC4F-418D-AE19-62706E023703}">
                      <ahyp:hlinkClr val="tx"/>
                    </a:ext>
                  </a:extLst>
                </a:hlinkClick>
              </a:rPr>
              <a:t> </a:t>
            </a:r>
            <a:r>
              <a:rPr b="0" i="0" lang="en" sz="1200" u="sng" cap="none" strike="noStrike">
                <a:solidFill>
                  <a:srgbClr val="4C1130"/>
                </a:solidFill>
                <a:latin typeface="Merriweather"/>
                <a:ea typeface="Merriweather"/>
                <a:cs typeface="Merriweather"/>
                <a:sym typeface="Merriweather"/>
                <a:hlinkClick r:id="rId7">
                  <a:extLst>
                    <a:ext uri="{A12FA001-AC4F-418D-AE19-62706E023703}">
                      <ahyp:hlinkClr val="tx"/>
                    </a:ext>
                  </a:extLst>
                </a:hlinkClick>
              </a:rPr>
              <a:t>Paste Magazine</a:t>
            </a:r>
            <a:endParaRPr b="0" i="0" sz="1200" u="sng" cap="none" strike="noStrike">
              <a:solidFill>
                <a:srgbClr val="4C1130"/>
              </a:solidFill>
              <a:latin typeface="Merriweather"/>
              <a:ea typeface="Merriweather"/>
              <a:cs typeface="Merriweather"/>
              <a:sym typeface="Merriweather"/>
              <a:hlinkClick r:id="rId8">
                <a:extLst>
                  <a:ext uri="{A12FA001-AC4F-418D-AE19-62706E023703}">
                    <ahyp:hlinkClr val="tx"/>
                  </a:ext>
                </a:extLst>
              </a:hlinkClick>
            </a:endParaRPr>
          </a:p>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“There’s a particular vibe to a good coffee shop; a chill atmosphere where people catch up with one another and enjoy a good hot drink. Coffee Talk captures that same vibe” -</a:t>
            </a:r>
            <a:r>
              <a:rPr b="0" i="0" lang="en" sz="1200" u="none" cap="none" strike="noStrike">
                <a:solidFill>
                  <a:srgbClr val="4C1130"/>
                </a:solidFill>
                <a:uFill>
                  <a:noFill/>
                </a:uFill>
                <a:latin typeface="Merriweather"/>
                <a:ea typeface="Merriweather"/>
                <a:cs typeface="Merriweather"/>
                <a:sym typeface="Merriweather"/>
                <a:hlinkClick r:id="rId9">
                  <a:extLst>
                    <a:ext uri="{A12FA001-AC4F-418D-AE19-62706E023703}">
                      <ahyp:hlinkClr val="tx"/>
                    </a:ext>
                  </a:extLst>
                </a:hlinkClick>
              </a:rPr>
              <a:t> </a:t>
            </a:r>
            <a:r>
              <a:rPr b="0" i="0" lang="en" sz="1200" u="sng" cap="none" strike="noStrike">
                <a:solidFill>
                  <a:srgbClr val="4C1130"/>
                </a:solidFill>
                <a:latin typeface="Merriweather"/>
                <a:ea typeface="Merriweather"/>
                <a:cs typeface="Merriweather"/>
                <a:sym typeface="Merriweather"/>
                <a:hlinkClick r:id="rId10">
                  <a:extLst>
                    <a:ext uri="{A12FA001-AC4F-418D-AE19-62706E023703}">
                      <ahyp:hlinkClr val="tx"/>
                    </a:ext>
                  </a:extLst>
                </a:hlinkClick>
              </a:rPr>
              <a:t>Rock Paper Shotgun</a:t>
            </a:r>
            <a:endParaRPr b="0" i="0" sz="1200" u="sng" cap="none" strike="noStrike">
              <a:solidFill>
                <a:srgbClr val="4C1130"/>
              </a:solidFill>
              <a:latin typeface="Merriweather"/>
              <a:ea typeface="Merriweather"/>
              <a:cs typeface="Merriweather"/>
              <a:sym typeface="Merriweather"/>
              <a:hlinkClick r:id="rId11">
                <a:extLst>
                  <a:ext uri="{A12FA001-AC4F-418D-AE19-62706E023703}">
                    <ahyp:hlinkClr val="tx"/>
                  </a:ext>
                </a:extLst>
              </a:hlinkClick>
            </a:endParaRPr>
          </a:p>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“Whoa, I only got to play the first 15 minutes or so, but even from those short few minutes I can tell that</a:t>
            </a:r>
            <a:r>
              <a:rPr b="0" i="0" lang="en" sz="1200" u="none" cap="none" strike="noStrike">
                <a:solidFill>
                  <a:srgbClr val="4C1130"/>
                </a:solidFill>
                <a:uFill>
                  <a:noFill/>
                </a:uFill>
                <a:latin typeface="Merriweather"/>
                <a:ea typeface="Merriweather"/>
                <a:cs typeface="Merriweather"/>
                <a:sym typeface="Merriweather"/>
                <a:hlinkClick r:id="rId12">
                  <a:extLst>
                    <a:ext uri="{A12FA001-AC4F-418D-AE19-62706E023703}">
                      <ahyp:hlinkClr val="tx"/>
                    </a:ext>
                  </a:extLst>
                </a:hlinkClick>
              </a:rPr>
              <a:t> </a:t>
            </a:r>
            <a:r>
              <a:rPr b="0" i="0" lang="en" sz="1200" u="sng" cap="none" strike="noStrike">
                <a:solidFill>
                  <a:srgbClr val="4C1130"/>
                </a:solidFill>
                <a:latin typeface="Merriweather"/>
                <a:ea typeface="Merriweather"/>
                <a:cs typeface="Merriweather"/>
                <a:sym typeface="Merriweather"/>
                <a:hlinkClick r:id="rId13">
                  <a:extLst>
                    <a:ext uri="{A12FA001-AC4F-418D-AE19-62706E023703}">
                      <ahyp:hlinkClr val="tx"/>
                    </a:ext>
                  </a:extLst>
                </a:hlinkClick>
              </a:rPr>
              <a:t>@coffeetalk_game</a:t>
            </a:r>
            <a:r>
              <a:rPr b="0" i="0" lang="en" sz="1200" u="none" cap="none" strike="noStrike">
                <a:solidFill>
                  <a:srgbClr val="4C1130"/>
                </a:solidFill>
                <a:latin typeface="Merriweather"/>
                <a:ea typeface="Merriweather"/>
                <a:cs typeface="Merriweather"/>
                <a:sym typeface="Merriweather"/>
              </a:rPr>
              <a:t> is a super solid experience.” -</a:t>
            </a:r>
            <a:r>
              <a:rPr b="0" i="0" lang="en" sz="1200" u="none" cap="none" strike="noStrike">
                <a:solidFill>
                  <a:srgbClr val="4C1130"/>
                </a:solidFill>
                <a:uFill>
                  <a:noFill/>
                </a:uFill>
                <a:latin typeface="Merriweather"/>
                <a:ea typeface="Merriweather"/>
                <a:cs typeface="Merriweather"/>
                <a:sym typeface="Merriweather"/>
                <a:hlinkClick r:id="rId14">
                  <a:extLst>
                    <a:ext uri="{A12FA001-AC4F-418D-AE19-62706E023703}">
                      <ahyp:hlinkClr val="tx"/>
                    </a:ext>
                  </a:extLst>
                </a:hlinkClick>
              </a:rPr>
              <a:t> </a:t>
            </a:r>
            <a:r>
              <a:rPr b="0" i="0" lang="en" sz="1200" u="sng" cap="none" strike="noStrike">
                <a:solidFill>
                  <a:srgbClr val="4C1130"/>
                </a:solidFill>
                <a:latin typeface="Merriweather"/>
                <a:ea typeface="Merriweather"/>
                <a:cs typeface="Merriweather"/>
                <a:sym typeface="Merriweather"/>
                <a:hlinkClick r:id="rId15">
                  <a:extLst>
                    <a:ext uri="{A12FA001-AC4F-418D-AE19-62706E023703}">
                      <ahyp:hlinkClr val="tx"/>
                    </a:ext>
                  </a:extLst>
                </a:hlinkClick>
              </a:rPr>
              <a:t>Rami Ismail, Vlambeer</a:t>
            </a:r>
            <a:endParaRPr b="0" i="0" sz="1200" u="sng" cap="none" strike="noStrike">
              <a:solidFill>
                <a:srgbClr val="4C1130"/>
              </a:solidFill>
              <a:latin typeface="Merriweather"/>
              <a:ea typeface="Merriweather"/>
              <a:cs typeface="Merriweather"/>
              <a:sym typeface="Merriweather"/>
              <a:hlinkClick r:id="rId16">
                <a:extLst>
                  <a:ext uri="{A12FA001-AC4F-418D-AE19-62706E023703}">
                    <ahyp:hlinkClr val="tx"/>
                  </a:ext>
                </a:extLst>
              </a:hlinkClick>
            </a:endParaRPr>
          </a:p>
          <a:p>
            <a:pPr indent="-304800" lvl="0" marL="4572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And many more!</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160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272" name="Shape 272"/>
        <p:cNvGrpSpPr/>
        <p:nvPr/>
      </p:nvGrpSpPr>
      <p:grpSpPr>
        <a:xfrm>
          <a:off x="0" y="0"/>
          <a:ext cx="0" cy="0"/>
          <a:chOff x="0" y="0"/>
          <a:chExt cx="0" cy="0"/>
        </a:xfrm>
      </p:grpSpPr>
      <p:pic>
        <p:nvPicPr>
          <p:cNvPr id="273" name="Google Shape;273;p23"/>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274" name="Google Shape;274;p23"/>
          <p:cNvSpPr txBox="1"/>
          <p:nvPr/>
        </p:nvSpPr>
        <p:spPr>
          <a:xfrm>
            <a:off x="2095100" y="4093150"/>
            <a:ext cx="49446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Development</a:t>
            </a:r>
            <a:endParaRPr b="0" i="1" sz="2400" u="none" cap="none" strike="noStrike">
              <a:solidFill>
                <a:srgbClr val="660000"/>
              </a:solidFill>
              <a:latin typeface="Playfair Display"/>
              <a:ea typeface="Playfair Display"/>
              <a:cs typeface="Playfair Display"/>
              <a:sym typeface="Playfair Display"/>
            </a:endParaRPr>
          </a:p>
        </p:txBody>
      </p:sp>
      <p:sp>
        <p:nvSpPr>
          <p:cNvPr id="275" name="Google Shape;275;p23"/>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276" name="Google Shape;276;p23"/>
          <p:cNvPicPr preferRelativeResize="0"/>
          <p:nvPr/>
        </p:nvPicPr>
        <p:blipFill rotWithShape="1">
          <a:blip r:embed="rId4">
            <a:alphaModFix/>
          </a:blip>
          <a:srcRect b="0" l="0" r="0" t="0"/>
          <a:stretch/>
        </p:blipFill>
        <p:spPr>
          <a:xfrm>
            <a:off x="4262600" y="3277950"/>
            <a:ext cx="609600" cy="6096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280" name="Shape 280"/>
        <p:cNvGrpSpPr/>
        <p:nvPr/>
      </p:nvGrpSpPr>
      <p:grpSpPr>
        <a:xfrm>
          <a:off x="0" y="0"/>
          <a:ext cx="0" cy="0"/>
          <a:chOff x="0" y="0"/>
          <a:chExt cx="0" cy="0"/>
        </a:xfrm>
      </p:grpSpPr>
      <p:sp>
        <p:nvSpPr>
          <p:cNvPr id="281" name="Google Shape;281;p24"/>
          <p:cNvSpPr txBox="1"/>
          <p:nvPr/>
        </p:nvSpPr>
        <p:spPr>
          <a:xfrm>
            <a:off x="132150" y="329250"/>
            <a:ext cx="83844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Development Timeline</a:t>
            </a:r>
            <a:endParaRPr b="0" i="1" sz="1800" u="none" cap="none" strike="noStrike">
              <a:solidFill>
                <a:srgbClr val="660000"/>
              </a:solidFill>
              <a:latin typeface="Playfair Display"/>
              <a:ea typeface="Playfair Display"/>
              <a:cs typeface="Playfair Display"/>
              <a:sym typeface="Playfair Display"/>
            </a:endParaRPr>
          </a:p>
        </p:txBody>
      </p:sp>
      <p:cxnSp>
        <p:nvCxnSpPr>
          <p:cNvPr id="282" name="Google Shape;282;p24"/>
          <p:cNvCxnSpPr/>
          <p:nvPr/>
        </p:nvCxnSpPr>
        <p:spPr>
          <a:xfrm>
            <a:off x="4267800" y="842850"/>
            <a:ext cx="608400" cy="0"/>
          </a:xfrm>
          <a:prstGeom prst="straightConnector1">
            <a:avLst/>
          </a:prstGeom>
          <a:noFill/>
          <a:ln cap="flat" cmpd="sng" w="9525">
            <a:solidFill>
              <a:schemeClr val="dk2"/>
            </a:solidFill>
            <a:prstDash val="solid"/>
            <a:round/>
            <a:headEnd len="sm" w="sm" type="none"/>
            <a:tailEnd len="sm" w="sm" type="none"/>
          </a:ln>
        </p:spPr>
      </p:cxnSp>
      <p:cxnSp>
        <p:nvCxnSpPr>
          <p:cNvPr id="283" name="Google Shape;283;p24"/>
          <p:cNvCxnSpPr/>
          <p:nvPr/>
        </p:nvCxnSpPr>
        <p:spPr>
          <a:xfrm>
            <a:off x="4267800" y="4707300"/>
            <a:ext cx="608400" cy="0"/>
          </a:xfrm>
          <a:prstGeom prst="straightConnector1">
            <a:avLst/>
          </a:prstGeom>
          <a:noFill/>
          <a:ln cap="flat" cmpd="sng" w="9525">
            <a:solidFill>
              <a:schemeClr val="dk2"/>
            </a:solidFill>
            <a:prstDash val="solid"/>
            <a:round/>
            <a:headEnd len="sm" w="sm" type="none"/>
            <a:tailEnd len="sm" w="sm" type="none"/>
          </a:ln>
        </p:spPr>
      </p:cxnSp>
      <p:sp>
        <p:nvSpPr>
          <p:cNvPr id="284" name="Google Shape;284;p24"/>
          <p:cNvSpPr/>
          <p:nvPr/>
        </p:nvSpPr>
        <p:spPr>
          <a:xfrm>
            <a:off x="221625" y="2167600"/>
            <a:ext cx="192600" cy="1830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285" name="Google Shape;285;p24"/>
          <p:cNvSpPr/>
          <p:nvPr/>
        </p:nvSpPr>
        <p:spPr>
          <a:xfrm>
            <a:off x="69225" y="2350600"/>
            <a:ext cx="713700" cy="4521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Jan 2018</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Game Jam Prototype</a:t>
            </a:r>
            <a:endParaRPr b="0" i="0" sz="800" u="none" cap="none" strike="noStrike">
              <a:solidFill>
                <a:srgbClr val="000000"/>
              </a:solidFill>
              <a:latin typeface="Arial"/>
              <a:ea typeface="Arial"/>
              <a:cs typeface="Arial"/>
              <a:sym typeface="Arial"/>
            </a:endParaRPr>
          </a:p>
        </p:txBody>
      </p:sp>
      <p:sp>
        <p:nvSpPr>
          <p:cNvPr id="286" name="Google Shape;286;p24"/>
          <p:cNvSpPr/>
          <p:nvPr/>
        </p:nvSpPr>
        <p:spPr>
          <a:xfrm>
            <a:off x="69225" y="1494575"/>
            <a:ext cx="4819200" cy="452100"/>
          </a:xfrm>
          <a:prstGeom prst="chevron">
            <a:avLst>
              <a:gd fmla="val 50000"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2018</a:t>
            </a:r>
            <a:endParaRPr b="0" i="0" sz="1400" u="none" cap="none" strike="noStrike">
              <a:solidFill>
                <a:srgbClr val="FFFFFF"/>
              </a:solidFill>
              <a:latin typeface="Roboto"/>
              <a:ea typeface="Roboto"/>
              <a:cs typeface="Roboto"/>
              <a:sym typeface="Roboto"/>
            </a:endParaRPr>
          </a:p>
        </p:txBody>
      </p:sp>
      <p:sp>
        <p:nvSpPr>
          <p:cNvPr id="287" name="Google Shape;287;p24"/>
          <p:cNvSpPr/>
          <p:nvPr/>
        </p:nvSpPr>
        <p:spPr>
          <a:xfrm>
            <a:off x="4488825" y="1494575"/>
            <a:ext cx="1524000" cy="452100"/>
          </a:xfrm>
          <a:prstGeom prst="chevron">
            <a:avLst>
              <a:gd fmla="val 50000" name="adj"/>
            </a:avLst>
          </a:prstGeom>
          <a:solidFill>
            <a:srgbClr val="6AA84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Roboto"/>
                <a:ea typeface="Roboto"/>
                <a:cs typeface="Roboto"/>
                <a:sym typeface="Roboto"/>
              </a:rPr>
              <a:t>2019</a:t>
            </a:r>
            <a:endParaRPr b="0" i="0" sz="1400" u="none" cap="none" strike="noStrike">
              <a:solidFill>
                <a:srgbClr val="FFFFFF"/>
              </a:solidFill>
              <a:latin typeface="Roboto"/>
              <a:ea typeface="Roboto"/>
              <a:cs typeface="Roboto"/>
              <a:sym typeface="Roboto"/>
            </a:endParaRPr>
          </a:p>
        </p:txBody>
      </p:sp>
      <p:sp>
        <p:nvSpPr>
          <p:cNvPr id="288" name="Google Shape;288;p24"/>
          <p:cNvSpPr/>
          <p:nvPr/>
        </p:nvSpPr>
        <p:spPr>
          <a:xfrm>
            <a:off x="907425" y="2167600"/>
            <a:ext cx="192600" cy="1830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289" name="Google Shape;289;p24"/>
          <p:cNvSpPr/>
          <p:nvPr/>
        </p:nvSpPr>
        <p:spPr>
          <a:xfrm>
            <a:off x="755025" y="2350600"/>
            <a:ext cx="713700" cy="4521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Mar 2018</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Alpha 1</a:t>
            </a:r>
            <a:endParaRPr b="0" i="0" sz="800" u="none" cap="none" strike="noStrike">
              <a:solidFill>
                <a:srgbClr val="000000"/>
              </a:solidFill>
              <a:latin typeface="Arial"/>
              <a:ea typeface="Arial"/>
              <a:cs typeface="Arial"/>
              <a:sym typeface="Arial"/>
            </a:endParaRPr>
          </a:p>
        </p:txBody>
      </p:sp>
      <p:sp>
        <p:nvSpPr>
          <p:cNvPr id="290" name="Google Shape;290;p24"/>
          <p:cNvSpPr/>
          <p:nvPr/>
        </p:nvSpPr>
        <p:spPr>
          <a:xfrm>
            <a:off x="1593225" y="2167600"/>
            <a:ext cx="192600" cy="1830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291" name="Google Shape;291;p24"/>
          <p:cNvSpPr/>
          <p:nvPr/>
        </p:nvSpPr>
        <p:spPr>
          <a:xfrm>
            <a:off x="1440825" y="2350600"/>
            <a:ext cx="837600" cy="4521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Jul 2018</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Public Alpha Demo on itch.io</a:t>
            </a:r>
            <a:endParaRPr b="0" i="0" sz="800" u="none" cap="none" strike="noStrike">
              <a:solidFill>
                <a:srgbClr val="000000"/>
              </a:solidFill>
              <a:latin typeface="Arial"/>
              <a:ea typeface="Arial"/>
              <a:cs typeface="Arial"/>
              <a:sym typeface="Arial"/>
            </a:endParaRPr>
          </a:p>
        </p:txBody>
      </p:sp>
      <p:sp>
        <p:nvSpPr>
          <p:cNvPr id="292" name="Google Shape;292;p24"/>
          <p:cNvSpPr/>
          <p:nvPr/>
        </p:nvSpPr>
        <p:spPr>
          <a:xfrm>
            <a:off x="2355225" y="2167600"/>
            <a:ext cx="192600" cy="1830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293" name="Google Shape;293;p24"/>
          <p:cNvSpPr/>
          <p:nvPr/>
        </p:nvSpPr>
        <p:spPr>
          <a:xfrm>
            <a:off x="22028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Aug 2018</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Steam coming soon page live</a:t>
            </a:r>
            <a:endParaRPr b="0" i="0" sz="800" u="none" cap="none" strike="noStrike">
              <a:solidFill>
                <a:srgbClr val="000000"/>
              </a:solidFill>
              <a:latin typeface="Arial"/>
              <a:ea typeface="Arial"/>
              <a:cs typeface="Arial"/>
              <a:sym typeface="Arial"/>
            </a:endParaRPr>
          </a:p>
        </p:txBody>
      </p:sp>
      <p:cxnSp>
        <p:nvCxnSpPr>
          <p:cNvPr id="294" name="Google Shape;294;p24"/>
          <p:cNvCxnSpPr>
            <a:stCxn id="284" idx="3"/>
            <a:endCxn id="288" idx="1"/>
          </p:cNvCxnSpPr>
          <p:nvPr/>
        </p:nvCxnSpPr>
        <p:spPr>
          <a:xfrm>
            <a:off x="414225" y="2259100"/>
            <a:ext cx="493200" cy="600"/>
          </a:xfrm>
          <a:prstGeom prst="curvedConnector3">
            <a:avLst>
              <a:gd fmla="val 50000" name="adj1"/>
            </a:avLst>
          </a:prstGeom>
          <a:noFill/>
          <a:ln cap="flat" cmpd="sng" w="19050">
            <a:solidFill>
              <a:srgbClr val="999999"/>
            </a:solidFill>
            <a:prstDash val="solid"/>
            <a:round/>
            <a:headEnd len="sm" w="sm" type="none"/>
            <a:tailEnd len="med" w="med" type="triangle"/>
          </a:ln>
        </p:spPr>
      </p:cxnSp>
      <p:cxnSp>
        <p:nvCxnSpPr>
          <p:cNvPr id="295" name="Google Shape;295;p24"/>
          <p:cNvCxnSpPr>
            <a:stCxn id="288" idx="3"/>
            <a:endCxn id="290" idx="1"/>
          </p:cNvCxnSpPr>
          <p:nvPr/>
        </p:nvCxnSpPr>
        <p:spPr>
          <a:xfrm>
            <a:off x="1100025" y="2259100"/>
            <a:ext cx="493200" cy="600"/>
          </a:xfrm>
          <a:prstGeom prst="curvedConnector3">
            <a:avLst>
              <a:gd fmla="val 50000" name="adj1"/>
            </a:avLst>
          </a:prstGeom>
          <a:noFill/>
          <a:ln cap="flat" cmpd="sng" w="19050">
            <a:solidFill>
              <a:srgbClr val="999999"/>
            </a:solidFill>
            <a:prstDash val="solid"/>
            <a:round/>
            <a:headEnd len="sm" w="sm" type="none"/>
            <a:tailEnd len="med" w="med" type="triangle"/>
          </a:ln>
        </p:spPr>
      </p:cxnSp>
      <p:cxnSp>
        <p:nvCxnSpPr>
          <p:cNvPr id="296" name="Google Shape;296;p24"/>
          <p:cNvCxnSpPr>
            <a:stCxn id="290" idx="3"/>
            <a:endCxn id="292" idx="1"/>
          </p:cNvCxnSpPr>
          <p:nvPr/>
        </p:nvCxnSpPr>
        <p:spPr>
          <a:xfrm>
            <a:off x="1785825" y="2259100"/>
            <a:ext cx="569400" cy="600"/>
          </a:xfrm>
          <a:prstGeom prst="curvedConnector3">
            <a:avLst>
              <a:gd fmla="val 50000" name="adj1"/>
            </a:avLst>
          </a:prstGeom>
          <a:noFill/>
          <a:ln cap="flat" cmpd="sng" w="19050">
            <a:solidFill>
              <a:srgbClr val="999999"/>
            </a:solidFill>
            <a:prstDash val="solid"/>
            <a:round/>
            <a:headEnd len="sm" w="sm" type="none"/>
            <a:tailEnd len="med" w="med" type="triangle"/>
          </a:ln>
        </p:spPr>
      </p:cxnSp>
      <p:sp>
        <p:nvSpPr>
          <p:cNvPr id="297" name="Google Shape;297;p24"/>
          <p:cNvSpPr/>
          <p:nvPr/>
        </p:nvSpPr>
        <p:spPr>
          <a:xfrm>
            <a:off x="3117225" y="2167600"/>
            <a:ext cx="192600" cy="1830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298" name="Google Shape;298;p24"/>
          <p:cNvSpPr/>
          <p:nvPr/>
        </p:nvSpPr>
        <p:spPr>
          <a:xfrm>
            <a:off x="29648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Oct 2018</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Localized demo to Korean and Chinese by fans</a:t>
            </a:r>
            <a:endParaRPr b="0" i="0" sz="800" u="none" cap="none" strike="noStrike">
              <a:solidFill>
                <a:srgbClr val="000000"/>
              </a:solidFill>
              <a:latin typeface="Arial"/>
              <a:ea typeface="Arial"/>
              <a:cs typeface="Arial"/>
              <a:sym typeface="Arial"/>
            </a:endParaRPr>
          </a:p>
        </p:txBody>
      </p:sp>
      <p:cxnSp>
        <p:nvCxnSpPr>
          <p:cNvPr id="299" name="Google Shape;299;p24"/>
          <p:cNvCxnSpPr>
            <a:stCxn id="292" idx="3"/>
            <a:endCxn id="297" idx="1"/>
          </p:cNvCxnSpPr>
          <p:nvPr/>
        </p:nvCxnSpPr>
        <p:spPr>
          <a:xfrm>
            <a:off x="2547825" y="2259100"/>
            <a:ext cx="569400" cy="600"/>
          </a:xfrm>
          <a:prstGeom prst="curvedConnector3">
            <a:avLst>
              <a:gd fmla="val 50000" name="adj1"/>
            </a:avLst>
          </a:prstGeom>
          <a:noFill/>
          <a:ln cap="flat" cmpd="sng" w="19050">
            <a:solidFill>
              <a:srgbClr val="999999"/>
            </a:solidFill>
            <a:prstDash val="solid"/>
            <a:round/>
            <a:headEnd len="sm" w="sm" type="none"/>
            <a:tailEnd len="med" w="med" type="triangle"/>
          </a:ln>
        </p:spPr>
      </p:cxnSp>
      <p:sp>
        <p:nvSpPr>
          <p:cNvPr id="300" name="Google Shape;300;p24"/>
          <p:cNvSpPr/>
          <p:nvPr/>
        </p:nvSpPr>
        <p:spPr>
          <a:xfrm>
            <a:off x="3879225" y="2167600"/>
            <a:ext cx="192600" cy="183000"/>
          </a:xfrm>
          <a:prstGeom prst="roundRect">
            <a:avLst>
              <a:gd fmla="val 16667" name="adj"/>
            </a:avLst>
          </a:prstGeom>
          <a:solidFill>
            <a:srgbClr val="E6913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301" name="Google Shape;301;p24"/>
          <p:cNvSpPr/>
          <p:nvPr/>
        </p:nvSpPr>
        <p:spPr>
          <a:xfrm>
            <a:off x="37268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Nov 2018</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Test demo built to console and mobile</a:t>
            </a:r>
            <a:endParaRPr b="0" i="0" sz="800" u="none" cap="none" strike="noStrike">
              <a:solidFill>
                <a:srgbClr val="000000"/>
              </a:solidFill>
              <a:latin typeface="Arial"/>
              <a:ea typeface="Arial"/>
              <a:cs typeface="Arial"/>
              <a:sym typeface="Arial"/>
            </a:endParaRPr>
          </a:p>
        </p:txBody>
      </p:sp>
      <p:cxnSp>
        <p:nvCxnSpPr>
          <p:cNvPr id="302" name="Google Shape;302;p24"/>
          <p:cNvCxnSpPr>
            <a:stCxn id="297" idx="3"/>
            <a:endCxn id="300" idx="1"/>
          </p:cNvCxnSpPr>
          <p:nvPr/>
        </p:nvCxnSpPr>
        <p:spPr>
          <a:xfrm>
            <a:off x="3309825" y="2259100"/>
            <a:ext cx="569400" cy="600"/>
          </a:xfrm>
          <a:prstGeom prst="curvedConnector3">
            <a:avLst>
              <a:gd fmla="val 50000" name="adj1"/>
            </a:avLst>
          </a:prstGeom>
          <a:noFill/>
          <a:ln cap="flat" cmpd="sng" w="19050">
            <a:solidFill>
              <a:srgbClr val="999999"/>
            </a:solidFill>
            <a:prstDash val="solid"/>
            <a:round/>
            <a:headEnd len="sm" w="sm" type="none"/>
            <a:tailEnd len="med" w="med" type="triangle"/>
          </a:ln>
        </p:spPr>
      </p:cxnSp>
      <p:sp>
        <p:nvSpPr>
          <p:cNvPr id="303" name="Google Shape;303;p24"/>
          <p:cNvSpPr/>
          <p:nvPr/>
        </p:nvSpPr>
        <p:spPr>
          <a:xfrm>
            <a:off x="4641225" y="2167600"/>
            <a:ext cx="192600" cy="183000"/>
          </a:xfrm>
          <a:prstGeom prst="roundRect">
            <a:avLst>
              <a:gd fmla="val 16667" name="adj"/>
            </a:avLst>
          </a:prstGeom>
          <a:solidFill>
            <a:srgbClr val="6AA84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304" name="Google Shape;304;p24"/>
          <p:cNvSpPr/>
          <p:nvPr/>
        </p:nvSpPr>
        <p:spPr>
          <a:xfrm>
            <a:off x="44888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Jan 2019</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Taipei Game Show</a:t>
            </a:r>
            <a:endParaRPr b="0" i="0" sz="800" u="none" cap="none" strike="noStrike">
              <a:solidFill>
                <a:srgbClr val="000000"/>
              </a:solidFill>
              <a:latin typeface="Arial"/>
              <a:ea typeface="Arial"/>
              <a:cs typeface="Arial"/>
              <a:sym typeface="Arial"/>
            </a:endParaRPr>
          </a:p>
        </p:txBody>
      </p:sp>
      <p:cxnSp>
        <p:nvCxnSpPr>
          <p:cNvPr id="305" name="Google Shape;305;p24"/>
          <p:cNvCxnSpPr>
            <a:stCxn id="300" idx="3"/>
            <a:endCxn id="303" idx="1"/>
          </p:cNvCxnSpPr>
          <p:nvPr/>
        </p:nvCxnSpPr>
        <p:spPr>
          <a:xfrm>
            <a:off x="4071825" y="2259100"/>
            <a:ext cx="569400" cy="600"/>
          </a:xfrm>
          <a:prstGeom prst="curvedConnector3">
            <a:avLst>
              <a:gd fmla="val 50000" name="adj1"/>
            </a:avLst>
          </a:prstGeom>
          <a:noFill/>
          <a:ln cap="flat" cmpd="sng" w="19050">
            <a:solidFill>
              <a:srgbClr val="999999"/>
            </a:solidFill>
            <a:prstDash val="solid"/>
            <a:round/>
            <a:headEnd len="sm" w="sm" type="none"/>
            <a:tailEnd len="med" w="med" type="triangle"/>
          </a:ln>
        </p:spPr>
      </p:cxnSp>
      <p:sp>
        <p:nvSpPr>
          <p:cNvPr id="306" name="Google Shape;306;p24"/>
          <p:cNvSpPr/>
          <p:nvPr/>
        </p:nvSpPr>
        <p:spPr>
          <a:xfrm>
            <a:off x="5403225" y="2167600"/>
            <a:ext cx="192600" cy="183000"/>
          </a:xfrm>
          <a:prstGeom prst="roundRect">
            <a:avLst>
              <a:gd fmla="val 16667" name="adj"/>
            </a:avLst>
          </a:prstGeom>
          <a:solidFill>
            <a:srgbClr val="6AA84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307" name="Google Shape;307;p24"/>
          <p:cNvSpPr/>
          <p:nvPr/>
        </p:nvSpPr>
        <p:spPr>
          <a:xfrm>
            <a:off x="5250825" y="2350600"/>
            <a:ext cx="837600" cy="9123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Mar 2019</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Latte Art mechanic</a:t>
            </a:r>
            <a:endParaRPr b="0" i="0" sz="800" u="none" cap="none" strike="noStrike">
              <a:solidFill>
                <a:srgbClr val="000000"/>
              </a:solidFill>
              <a:latin typeface="Arial"/>
              <a:ea typeface="Arial"/>
              <a:cs typeface="Arial"/>
              <a:sym typeface="Arial"/>
            </a:endParaRPr>
          </a:p>
        </p:txBody>
      </p:sp>
      <p:cxnSp>
        <p:nvCxnSpPr>
          <p:cNvPr id="308" name="Google Shape;308;p24"/>
          <p:cNvCxnSpPr>
            <a:stCxn id="303" idx="3"/>
            <a:endCxn id="306" idx="1"/>
          </p:cNvCxnSpPr>
          <p:nvPr/>
        </p:nvCxnSpPr>
        <p:spPr>
          <a:xfrm>
            <a:off x="4833825" y="2259100"/>
            <a:ext cx="569400" cy="600"/>
          </a:xfrm>
          <a:prstGeom prst="curvedConnector3">
            <a:avLst>
              <a:gd fmla="val 50000" name="adj1"/>
            </a:avLst>
          </a:prstGeom>
          <a:noFill/>
          <a:ln cap="flat" cmpd="sng" w="19050">
            <a:solidFill>
              <a:srgbClr val="999999"/>
            </a:solidFill>
            <a:prstDash val="solid"/>
            <a:round/>
            <a:headEnd len="sm" w="sm" type="none"/>
            <a:tailEnd len="med" w="med" type="triangle"/>
          </a:ln>
        </p:spPr>
      </p:cxnSp>
      <p:sp>
        <p:nvSpPr>
          <p:cNvPr id="309" name="Google Shape;309;p24"/>
          <p:cNvSpPr/>
          <p:nvPr/>
        </p:nvSpPr>
        <p:spPr>
          <a:xfrm>
            <a:off x="6165225" y="2167600"/>
            <a:ext cx="192600" cy="183000"/>
          </a:xfrm>
          <a:prstGeom prst="roundRect">
            <a:avLst>
              <a:gd fmla="val 16667" name="adj"/>
            </a:avLst>
          </a:prstGeom>
          <a:solidFill>
            <a:srgbClr val="6AA84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310" name="Google Shape;310;p24"/>
          <p:cNvSpPr/>
          <p:nvPr/>
        </p:nvSpPr>
        <p:spPr>
          <a:xfrm>
            <a:off x="60128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Apr 2019</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Beta testing and polishing</a:t>
            </a:r>
            <a:endParaRPr b="0" i="0" sz="800" u="none" cap="none" strike="noStrike">
              <a:solidFill>
                <a:srgbClr val="000000"/>
              </a:solidFill>
              <a:latin typeface="Arial"/>
              <a:ea typeface="Arial"/>
              <a:cs typeface="Arial"/>
              <a:sym typeface="Arial"/>
            </a:endParaRPr>
          </a:p>
        </p:txBody>
      </p:sp>
      <p:cxnSp>
        <p:nvCxnSpPr>
          <p:cNvPr id="311" name="Google Shape;311;p24"/>
          <p:cNvCxnSpPr>
            <a:stCxn id="306" idx="3"/>
            <a:endCxn id="309" idx="1"/>
          </p:cNvCxnSpPr>
          <p:nvPr/>
        </p:nvCxnSpPr>
        <p:spPr>
          <a:xfrm>
            <a:off x="5595825" y="2259100"/>
            <a:ext cx="569400" cy="600"/>
          </a:xfrm>
          <a:prstGeom prst="curvedConnector3">
            <a:avLst>
              <a:gd fmla="val 50000" name="adj1"/>
            </a:avLst>
          </a:prstGeom>
          <a:noFill/>
          <a:ln cap="flat" cmpd="sng" w="19050">
            <a:solidFill>
              <a:srgbClr val="999999"/>
            </a:solidFill>
            <a:prstDash val="lgDash"/>
            <a:round/>
            <a:headEnd len="sm" w="sm" type="none"/>
            <a:tailEnd len="med" w="med" type="triangle"/>
          </a:ln>
        </p:spPr>
      </p:cxnSp>
      <p:sp>
        <p:nvSpPr>
          <p:cNvPr id="312" name="Google Shape;312;p24"/>
          <p:cNvSpPr/>
          <p:nvPr/>
        </p:nvSpPr>
        <p:spPr>
          <a:xfrm>
            <a:off x="6927225" y="2167600"/>
            <a:ext cx="192600" cy="183000"/>
          </a:xfrm>
          <a:prstGeom prst="roundRect">
            <a:avLst>
              <a:gd fmla="val 16667" name="adj"/>
            </a:avLst>
          </a:prstGeom>
          <a:solidFill>
            <a:srgbClr val="6AA84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313" name="Google Shape;313;p24"/>
          <p:cNvSpPr/>
          <p:nvPr/>
        </p:nvSpPr>
        <p:spPr>
          <a:xfrm>
            <a:off x="67748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June 2019</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Gold build</a:t>
            </a:r>
            <a:endParaRPr b="0" i="0" sz="800" u="none" cap="none" strike="noStrike">
              <a:solidFill>
                <a:srgbClr val="000000"/>
              </a:solidFill>
              <a:latin typeface="Arial"/>
              <a:ea typeface="Arial"/>
              <a:cs typeface="Arial"/>
              <a:sym typeface="Arial"/>
            </a:endParaRPr>
          </a:p>
        </p:txBody>
      </p:sp>
      <p:cxnSp>
        <p:nvCxnSpPr>
          <p:cNvPr id="314" name="Google Shape;314;p24"/>
          <p:cNvCxnSpPr>
            <a:stCxn id="309" idx="3"/>
            <a:endCxn id="312" idx="1"/>
          </p:cNvCxnSpPr>
          <p:nvPr/>
        </p:nvCxnSpPr>
        <p:spPr>
          <a:xfrm>
            <a:off x="6357825" y="2259100"/>
            <a:ext cx="569400" cy="600"/>
          </a:xfrm>
          <a:prstGeom prst="curvedConnector3">
            <a:avLst>
              <a:gd fmla="val 50000" name="adj1"/>
            </a:avLst>
          </a:prstGeom>
          <a:noFill/>
          <a:ln cap="flat" cmpd="sng" w="19050">
            <a:solidFill>
              <a:srgbClr val="999999"/>
            </a:solidFill>
            <a:prstDash val="lgDash"/>
            <a:round/>
            <a:headEnd len="sm" w="sm" type="none"/>
            <a:tailEnd len="med" w="med" type="triangle"/>
          </a:ln>
        </p:spPr>
      </p:cxnSp>
      <p:sp>
        <p:nvSpPr>
          <p:cNvPr id="315" name="Google Shape;315;p24"/>
          <p:cNvSpPr/>
          <p:nvPr/>
        </p:nvSpPr>
        <p:spPr>
          <a:xfrm>
            <a:off x="7689225" y="2167600"/>
            <a:ext cx="192600" cy="183000"/>
          </a:xfrm>
          <a:prstGeom prst="roundRect">
            <a:avLst>
              <a:gd fmla="val 16667" name="adj"/>
            </a:avLst>
          </a:prstGeom>
          <a:solidFill>
            <a:srgbClr val="FFD966"/>
          </a:solidFill>
          <a:ln cap="flat" cmpd="sng" w="2857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316" name="Google Shape;316;p24"/>
          <p:cNvSpPr/>
          <p:nvPr/>
        </p:nvSpPr>
        <p:spPr>
          <a:xfrm>
            <a:off x="75368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Aug/Sep 2019</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Launch target</a:t>
            </a:r>
            <a:endParaRPr b="0" i="0" sz="800" u="none" cap="none" strike="noStrike">
              <a:solidFill>
                <a:srgbClr val="000000"/>
              </a:solidFill>
              <a:latin typeface="Arial"/>
              <a:ea typeface="Arial"/>
              <a:cs typeface="Arial"/>
              <a:sym typeface="Arial"/>
            </a:endParaRPr>
          </a:p>
        </p:txBody>
      </p:sp>
      <p:cxnSp>
        <p:nvCxnSpPr>
          <p:cNvPr id="317" name="Google Shape;317;p24"/>
          <p:cNvCxnSpPr>
            <a:stCxn id="312" idx="3"/>
            <a:endCxn id="315" idx="1"/>
          </p:cNvCxnSpPr>
          <p:nvPr/>
        </p:nvCxnSpPr>
        <p:spPr>
          <a:xfrm>
            <a:off x="7119825" y="2259100"/>
            <a:ext cx="569400" cy="600"/>
          </a:xfrm>
          <a:prstGeom prst="curvedConnector3">
            <a:avLst>
              <a:gd fmla="val 50000" name="adj1"/>
            </a:avLst>
          </a:prstGeom>
          <a:noFill/>
          <a:ln cap="flat" cmpd="sng" w="19050">
            <a:solidFill>
              <a:srgbClr val="999999"/>
            </a:solidFill>
            <a:prstDash val="lgDash"/>
            <a:round/>
            <a:headEnd len="sm" w="sm" type="none"/>
            <a:tailEnd len="med" w="med" type="triangle"/>
          </a:ln>
        </p:spPr>
      </p:cxnSp>
      <p:sp>
        <p:nvSpPr>
          <p:cNvPr id="318" name="Google Shape;318;p24"/>
          <p:cNvSpPr/>
          <p:nvPr/>
        </p:nvSpPr>
        <p:spPr>
          <a:xfrm>
            <a:off x="5784225" y="1494575"/>
            <a:ext cx="3276000" cy="452100"/>
          </a:xfrm>
          <a:prstGeom prst="chevron">
            <a:avLst>
              <a:gd fmla="val 50000" name="adj"/>
            </a:avLst>
          </a:prstGeom>
          <a:solidFill>
            <a:srgbClr val="93C47D"/>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Roboto"/>
              <a:ea typeface="Roboto"/>
              <a:cs typeface="Roboto"/>
              <a:sym typeface="Roboto"/>
            </a:endParaRPr>
          </a:p>
        </p:txBody>
      </p:sp>
      <p:sp>
        <p:nvSpPr>
          <p:cNvPr id="319" name="Google Shape;319;p24"/>
          <p:cNvSpPr/>
          <p:nvPr/>
        </p:nvSpPr>
        <p:spPr>
          <a:xfrm>
            <a:off x="8375025" y="2167600"/>
            <a:ext cx="192600" cy="183000"/>
          </a:xfrm>
          <a:prstGeom prst="roundRect">
            <a:avLst>
              <a:gd fmla="val 16667" name="adj"/>
            </a:avLst>
          </a:prstGeom>
          <a:solidFill>
            <a:srgbClr val="6AA84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t/>
            </a:r>
            <a:endParaRPr b="1" i="0" sz="800" u="none" cap="none" strike="noStrike">
              <a:solidFill>
                <a:srgbClr val="FFFFFF"/>
              </a:solidFill>
              <a:latin typeface="Arial"/>
              <a:ea typeface="Arial"/>
              <a:cs typeface="Arial"/>
              <a:sym typeface="Arial"/>
            </a:endParaRPr>
          </a:p>
        </p:txBody>
      </p:sp>
      <p:sp>
        <p:nvSpPr>
          <p:cNvPr id="320" name="Google Shape;320;p24"/>
          <p:cNvSpPr/>
          <p:nvPr/>
        </p:nvSpPr>
        <p:spPr>
          <a:xfrm>
            <a:off x="8222625" y="2350600"/>
            <a:ext cx="837600" cy="6405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Dec 2019</a:t>
            </a:r>
            <a:br>
              <a:rPr b="0" i="0" lang="en" sz="800" u="none" cap="none" strike="noStrike">
                <a:solidFill>
                  <a:srgbClr val="000000"/>
                </a:solidFill>
                <a:latin typeface="Arial"/>
                <a:ea typeface="Arial"/>
                <a:cs typeface="Arial"/>
                <a:sym typeface="Arial"/>
              </a:rPr>
            </a:br>
            <a:r>
              <a:rPr b="0" i="0" lang="en" sz="800" u="none" cap="none" strike="noStrike">
                <a:solidFill>
                  <a:srgbClr val="000000"/>
                </a:solidFill>
                <a:latin typeface="Arial"/>
                <a:ea typeface="Arial"/>
                <a:cs typeface="Arial"/>
                <a:sym typeface="Arial"/>
              </a:rPr>
              <a:t>1st DLC</a:t>
            </a:r>
            <a:endParaRPr b="0" i="0" sz="800" u="none" cap="none" strike="noStrike">
              <a:solidFill>
                <a:srgbClr val="000000"/>
              </a:solidFill>
              <a:latin typeface="Arial"/>
              <a:ea typeface="Arial"/>
              <a:cs typeface="Arial"/>
              <a:sym typeface="Arial"/>
            </a:endParaRPr>
          </a:p>
        </p:txBody>
      </p:sp>
      <p:cxnSp>
        <p:nvCxnSpPr>
          <p:cNvPr id="321" name="Google Shape;321;p24"/>
          <p:cNvCxnSpPr>
            <a:stCxn id="315" idx="3"/>
            <a:endCxn id="319" idx="1"/>
          </p:cNvCxnSpPr>
          <p:nvPr/>
        </p:nvCxnSpPr>
        <p:spPr>
          <a:xfrm>
            <a:off x="7881825" y="2259100"/>
            <a:ext cx="493200" cy="600"/>
          </a:xfrm>
          <a:prstGeom prst="curvedConnector3">
            <a:avLst>
              <a:gd fmla="val 50000" name="adj1"/>
            </a:avLst>
          </a:prstGeom>
          <a:noFill/>
          <a:ln cap="flat" cmpd="sng" w="19050">
            <a:solidFill>
              <a:srgbClr val="999999"/>
            </a:solidFill>
            <a:prstDash val="lgDash"/>
            <a:round/>
            <a:headEnd len="sm" w="sm" type="none"/>
            <a:tailEnd len="med" w="med" type="triangle"/>
          </a:ln>
        </p:spPr>
      </p:cxnSp>
      <p:cxnSp>
        <p:nvCxnSpPr>
          <p:cNvPr id="322" name="Google Shape;322;p24"/>
          <p:cNvCxnSpPr>
            <a:stCxn id="319" idx="3"/>
          </p:cNvCxnSpPr>
          <p:nvPr/>
        </p:nvCxnSpPr>
        <p:spPr>
          <a:xfrm>
            <a:off x="8567625" y="2259100"/>
            <a:ext cx="408600" cy="600"/>
          </a:xfrm>
          <a:prstGeom prst="curvedConnector3">
            <a:avLst>
              <a:gd fmla="val 50000" name="adj1"/>
            </a:avLst>
          </a:prstGeom>
          <a:noFill/>
          <a:ln cap="flat" cmpd="sng" w="19050">
            <a:solidFill>
              <a:srgbClr val="999999"/>
            </a:solidFill>
            <a:prstDash val="lgDash"/>
            <a:round/>
            <a:headEnd len="sm" w="sm" type="none"/>
            <a:tailEnd len="med" w="med" type="triangle"/>
          </a:ln>
        </p:spPr>
      </p:cxnSp>
      <p:sp>
        <p:nvSpPr>
          <p:cNvPr id="323" name="Google Shape;323;p24"/>
          <p:cNvSpPr/>
          <p:nvPr/>
        </p:nvSpPr>
        <p:spPr>
          <a:xfrm>
            <a:off x="5917950" y="3789900"/>
            <a:ext cx="2929800" cy="12732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Dev Notes:</a:t>
            </a:r>
            <a:endParaRPr b="1" i="0" sz="800" u="none" cap="none" strike="noStrike">
              <a:solidFill>
                <a:srgbClr val="000000"/>
              </a:solidFill>
              <a:latin typeface="Arial"/>
              <a:ea typeface="Arial"/>
              <a:cs typeface="Arial"/>
              <a:sym typeface="Arial"/>
            </a:endParaRPr>
          </a:p>
          <a:p>
            <a:pPr indent="-165100" lvl="0" marL="228600" marR="0" rtl="0" algn="l">
              <a:lnSpc>
                <a:spcPct val="100000"/>
              </a:lnSpc>
              <a:spcBef>
                <a:spcPts val="0"/>
              </a:spcBef>
              <a:spcAft>
                <a:spcPts val="0"/>
              </a:spcAft>
              <a:buClr>
                <a:srgbClr val="000000"/>
              </a:buClr>
              <a:buSzPts val="800"/>
              <a:buFont typeface="Arial"/>
              <a:buChar char="●"/>
            </a:pPr>
            <a:r>
              <a:rPr b="0" i="0" lang="en" sz="800" u="none" cap="none" strike="noStrike">
                <a:solidFill>
                  <a:srgbClr val="000000"/>
                </a:solidFill>
                <a:latin typeface="Arial"/>
                <a:ea typeface="Arial"/>
                <a:cs typeface="Arial"/>
                <a:sym typeface="Arial"/>
              </a:rPr>
              <a:t>In reality Coffee Talk would be released on Jan 29, 2020</a:t>
            </a:r>
            <a:endParaRPr b="0" i="0" sz="800" u="none" cap="none" strike="noStrike">
              <a:solidFill>
                <a:srgbClr val="000000"/>
              </a:solidFill>
              <a:latin typeface="Arial"/>
              <a:ea typeface="Arial"/>
              <a:cs typeface="Arial"/>
              <a:sym typeface="Arial"/>
            </a:endParaRPr>
          </a:p>
          <a:p>
            <a:pPr indent="-165100" lvl="0" marL="228600" marR="0" rtl="0" algn="l">
              <a:lnSpc>
                <a:spcPct val="100000"/>
              </a:lnSpc>
              <a:spcBef>
                <a:spcPts val="0"/>
              </a:spcBef>
              <a:spcAft>
                <a:spcPts val="0"/>
              </a:spcAft>
              <a:buClr>
                <a:srgbClr val="000000"/>
              </a:buClr>
              <a:buSzPts val="800"/>
              <a:buFont typeface="Arial"/>
              <a:buChar char="●"/>
            </a:pPr>
            <a:r>
              <a:rPr b="0" i="0" lang="en" sz="800" u="none" cap="none" strike="noStrike">
                <a:solidFill>
                  <a:srgbClr val="000000"/>
                </a:solidFill>
                <a:latin typeface="Arial"/>
                <a:ea typeface="Arial"/>
                <a:cs typeface="Arial"/>
                <a:sym typeface="Arial"/>
              </a:rPr>
              <a:t>No DLC was released, instead we release Steam workshop modding support for localization and voice acting</a:t>
            </a:r>
            <a:endParaRPr b="0" i="0" sz="800" u="none" cap="none" strike="noStrike">
              <a:solidFill>
                <a:srgbClr val="000000"/>
              </a:solidFill>
              <a:latin typeface="Arial"/>
              <a:ea typeface="Arial"/>
              <a:cs typeface="Arial"/>
              <a:sym typeface="Arial"/>
            </a:endParaRPr>
          </a:p>
          <a:p>
            <a:pPr indent="-165100" lvl="0" marL="228600" marR="0" rtl="0" algn="l">
              <a:lnSpc>
                <a:spcPct val="100000"/>
              </a:lnSpc>
              <a:spcBef>
                <a:spcPts val="0"/>
              </a:spcBef>
              <a:spcAft>
                <a:spcPts val="0"/>
              </a:spcAft>
              <a:buClr>
                <a:srgbClr val="000000"/>
              </a:buClr>
              <a:buSzPts val="800"/>
              <a:buFont typeface="Arial"/>
              <a:buChar char="●"/>
            </a:pPr>
            <a:r>
              <a:rPr b="0" i="0" lang="en" sz="800" u="none" cap="none" strike="noStrike">
                <a:solidFill>
                  <a:srgbClr val="000000"/>
                </a:solidFill>
                <a:latin typeface="Arial"/>
                <a:ea typeface="Arial"/>
                <a:cs typeface="Arial"/>
                <a:sym typeface="Arial"/>
              </a:rPr>
              <a:t>CT2 was originally planned as the DLC became a full stand alone sequel and released on April 20, 2023</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327" name="Shape 327"/>
        <p:cNvGrpSpPr/>
        <p:nvPr/>
      </p:nvGrpSpPr>
      <p:grpSpPr>
        <a:xfrm>
          <a:off x="0" y="0"/>
          <a:ext cx="0" cy="0"/>
          <a:chOff x="0" y="0"/>
          <a:chExt cx="0" cy="0"/>
        </a:xfrm>
      </p:grpSpPr>
      <p:sp>
        <p:nvSpPr>
          <p:cNvPr id="328" name="Google Shape;328;p25"/>
          <p:cNvSpPr txBox="1"/>
          <p:nvPr/>
        </p:nvSpPr>
        <p:spPr>
          <a:xfrm>
            <a:off x="132150" y="329250"/>
            <a:ext cx="83844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Demo Build</a:t>
            </a:r>
            <a:endParaRPr b="0" i="1" sz="1800" u="none" cap="none" strike="noStrike">
              <a:solidFill>
                <a:srgbClr val="660000"/>
              </a:solidFill>
              <a:latin typeface="Playfair Display"/>
              <a:ea typeface="Playfair Display"/>
              <a:cs typeface="Playfair Display"/>
              <a:sym typeface="Playfair Display"/>
            </a:endParaRPr>
          </a:p>
        </p:txBody>
      </p:sp>
      <p:cxnSp>
        <p:nvCxnSpPr>
          <p:cNvPr id="329" name="Google Shape;329;p25"/>
          <p:cNvCxnSpPr/>
          <p:nvPr/>
        </p:nvCxnSpPr>
        <p:spPr>
          <a:xfrm>
            <a:off x="4267800" y="842850"/>
            <a:ext cx="608400" cy="0"/>
          </a:xfrm>
          <a:prstGeom prst="straightConnector1">
            <a:avLst/>
          </a:prstGeom>
          <a:noFill/>
          <a:ln cap="flat" cmpd="sng" w="9525">
            <a:solidFill>
              <a:schemeClr val="dk2"/>
            </a:solidFill>
            <a:prstDash val="solid"/>
            <a:round/>
            <a:headEnd len="sm" w="sm" type="none"/>
            <a:tailEnd len="sm" w="sm" type="none"/>
          </a:ln>
        </p:spPr>
      </p:cxnSp>
      <p:cxnSp>
        <p:nvCxnSpPr>
          <p:cNvPr id="330" name="Google Shape;330;p25"/>
          <p:cNvCxnSpPr/>
          <p:nvPr/>
        </p:nvCxnSpPr>
        <p:spPr>
          <a:xfrm>
            <a:off x="4267800" y="4707300"/>
            <a:ext cx="608400" cy="0"/>
          </a:xfrm>
          <a:prstGeom prst="straightConnector1">
            <a:avLst/>
          </a:prstGeom>
          <a:noFill/>
          <a:ln cap="flat" cmpd="sng" w="9525">
            <a:solidFill>
              <a:schemeClr val="dk2"/>
            </a:solidFill>
            <a:prstDash val="solid"/>
            <a:round/>
            <a:headEnd len="sm" w="sm" type="none"/>
            <a:tailEnd len="sm" w="sm" type="none"/>
          </a:ln>
        </p:spPr>
      </p:cxnSp>
      <p:sp>
        <p:nvSpPr>
          <p:cNvPr id="331" name="Google Shape;331;p25"/>
          <p:cNvSpPr txBox="1"/>
          <p:nvPr/>
        </p:nvSpPr>
        <p:spPr>
          <a:xfrm>
            <a:off x="205950" y="911400"/>
            <a:ext cx="8310600" cy="36315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80000"/>
              </a:lnSpc>
              <a:spcBef>
                <a:spcPts val="0"/>
              </a:spcBef>
              <a:spcAft>
                <a:spcPts val="0"/>
              </a:spcAft>
              <a:buClr>
                <a:srgbClr val="4C1130"/>
              </a:buClr>
              <a:buSzPts val="1400"/>
              <a:buFont typeface="Merriweather"/>
              <a:buChar char="●"/>
            </a:pPr>
            <a:r>
              <a:rPr b="1" i="0" lang="en" sz="1400" u="none" cap="none" strike="noStrike">
                <a:solidFill>
                  <a:srgbClr val="4C1130"/>
                </a:solidFill>
                <a:latin typeface="Merriweather"/>
                <a:ea typeface="Merriweather"/>
                <a:cs typeface="Merriweather"/>
                <a:sym typeface="Merriweather"/>
              </a:rPr>
              <a:t>Test Flight  available via invitation</a:t>
            </a:r>
            <a:endParaRPr b="1" i="0" sz="1400" u="none" cap="none" strike="noStrike">
              <a:solidFill>
                <a:srgbClr val="4C1130"/>
              </a:solidFill>
              <a:latin typeface="Merriweather"/>
              <a:ea typeface="Merriweather"/>
              <a:cs typeface="Merriweather"/>
              <a:sym typeface="Merriweather"/>
            </a:endParaRPr>
          </a:p>
          <a:p>
            <a:pPr indent="-317500" lvl="1" marL="914400" marR="0" rtl="0" algn="l">
              <a:lnSpc>
                <a:spcPct val="180000"/>
              </a:lnSpc>
              <a:spcBef>
                <a:spcPts val="0"/>
              </a:spcBef>
              <a:spcAft>
                <a:spcPts val="0"/>
              </a:spcAft>
              <a:buClr>
                <a:srgbClr val="4C1130"/>
              </a:buClr>
              <a:buSzPts val="1400"/>
              <a:buFont typeface="Merriweather"/>
              <a:buChar char="○"/>
            </a:pPr>
            <a:r>
              <a:rPr b="1" i="0" lang="en" sz="1400" u="none" cap="none" strike="noStrike">
                <a:solidFill>
                  <a:srgbClr val="4C1130"/>
                </a:solidFill>
                <a:latin typeface="Merriweather"/>
                <a:ea typeface="Merriweather"/>
                <a:cs typeface="Merriweather"/>
                <a:sym typeface="Merriweather"/>
              </a:rPr>
              <a:t>Public link - Coming Soon</a:t>
            </a:r>
            <a:endParaRPr b="1" i="0" sz="1400" u="none" cap="none" strike="noStrike">
              <a:solidFill>
                <a:srgbClr val="4C1130"/>
              </a:solidFill>
              <a:latin typeface="Merriweather"/>
              <a:ea typeface="Merriweather"/>
              <a:cs typeface="Merriweather"/>
              <a:sym typeface="Merriweather"/>
            </a:endParaRPr>
          </a:p>
          <a:p>
            <a:pPr indent="-317500" lvl="0" marL="457200" marR="0" rtl="0" algn="l">
              <a:lnSpc>
                <a:spcPct val="180000"/>
              </a:lnSpc>
              <a:spcBef>
                <a:spcPts val="0"/>
              </a:spcBef>
              <a:spcAft>
                <a:spcPts val="0"/>
              </a:spcAft>
              <a:buClr>
                <a:srgbClr val="4C1130"/>
              </a:buClr>
              <a:buSzPts val="1400"/>
              <a:buFont typeface="Merriweather"/>
              <a:buChar char="●"/>
            </a:pPr>
            <a:r>
              <a:rPr b="1" i="0" lang="en" sz="1400" u="none" cap="none" strike="noStrike">
                <a:solidFill>
                  <a:srgbClr val="4C1130"/>
                </a:solidFill>
                <a:latin typeface="Merriweather"/>
                <a:ea typeface="Merriweather"/>
                <a:cs typeface="Merriweather"/>
                <a:sym typeface="Merriweather"/>
              </a:rPr>
              <a:t>PC Demo Build</a:t>
            </a:r>
            <a:endParaRPr b="1" i="0" sz="1400" u="none" cap="none" strike="noStrike">
              <a:solidFill>
                <a:srgbClr val="4C1130"/>
              </a:solidFill>
              <a:latin typeface="Merriweather"/>
              <a:ea typeface="Merriweather"/>
              <a:cs typeface="Merriweather"/>
              <a:sym typeface="Merriweather"/>
            </a:endParaRPr>
          </a:p>
          <a:p>
            <a:pPr indent="-317500" lvl="1" marL="914400" marR="0" rtl="0" algn="l">
              <a:lnSpc>
                <a:spcPct val="180000"/>
              </a:lnSpc>
              <a:spcBef>
                <a:spcPts val="0"/>
              </a:spcBef>
              <a:spcAft>
                <a:spcPts val="0"/>
              </a:spcAft>
              <a:buClr>
                <a:srgbClr val="4C1130"/>
              </a:buClr>
              <a:buSzPts val="1400"/>
              <a:buFont typeface="Merriweather"/>
              <a:buChar char="○"/>
            </a:pPr>
            <a:r>
              <a:rPr b="1" i="0" lang="en" sz="1400" u="sng" cap="none" strike="noStrike">
                <a:solidFill>
                  <a:schemeClr val="hlink"/>
                </a:solidFill>
                <a:latin typeface="Merriweather"/>
                <a:ea typeface="Merriweather"/>
                <a:cs typeface="Merriweather"/>
                <a:sym typeface="Merriweather"/>
                <a:hlinkClick r:id="rId3"/>
              </a:rPr>
              <a:t>Steam</a:t>
            </a:r>
            <a:endParaRPr b="1" i="0" sz="1400" u="none" cap="none" strike="noStrike">
              <a:solidFill>
                <a:srgbClr val="4C1130"/>
              </a:solidFill>
              <a:latin typeface="Merriweather"/>
              <a:ea typeface="Merriweather"/>
              <a:cs typeface="Merriweather"/>
              <a:sym typeface="Merriweather"/>
            </a:endParaRPr>
          </a:p>
          <a:p>
            <a:pPr indent="-317500" lvl="1" marL="914400" marR="0" rtl="0" algn="l">
              <a:lnSpc>
                <a:spcPct val="180000"/>
              </a:lnSpc>
              <a:spcBef>
                <a:spcPts val="0"/>
              </a:spcBef>
              <a:spcAft>
                <a:spcPts val="0"/>
              </a:spcAft>
              <a:buClr>
                <a:srgbClr val="4C1130"/>
              </a:buClr>
              <a:buSzPts val="1400"/>
              <a:buFont typeface="Merriweather"/>
              <a:buChar char="○"/>
            </a:pPr>
            <a:r>
              <a:rPr b="1" i="0" lang="en" sz="1400" u="sng" cap="none" strike="noStrike">
                <a:solidFill>
                  <a:schemeClr val="hlink"/>
                </a:solidFill>
                <a:latin typeface="Merriweather"/>
                <a:ea typeface="Merriweather"/>
                <a:cs typeface="Merriweather"/>
                <a:sym typeface="Merriweather"/>
                <a:hlinkClick r:id="rId4"/>
              </a:rPr>
              <a:t>itch.io</a:t>
            </a:r>
            <a:endParaRPr b="1" i="0" sz="140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335" name="Shape 335"/>
        <p:cNvGrpSpPr/>
        <p:nvPr/>
      </p:nvGrpSpPr>
      <p:grpSpPr>
        <a:xfrm>
          <a:off x="0" y="0"/>
          <a:ext cx="0" cy="0"/>
          <a:chOff x="0" y="0"/>
          <a:chExt cx="0" cy="0"/>
        </a:xfrm>
      </p:grpSpPr>
      <p:sp>
        <p:nvSpPr>
          <p:cNvPr id="336" name="Google Shape;336;p26"/>
          <p:cNvSpPr txBox="1"/>
          <p:nvPr/>
        </p:nvSpPr>
        <p:spPr>
          <a:xfrm>
            <a:off x="132150" y="329250"/>
            <a:ext cx="83844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Development Spent </a:t>
            </a:r>
            <a:endParaRPr b="0" i="1" sz="1800" u="none" cap="none" strike="noStrike">
              <a:solidFill>
                <a:srgbClr val="660000"/>
              </a:solidFill>
              <a:latin typeface="Playfair Display"/>
              <a:ea typeface="Playfair Display"/>
              <a:cs typeface="Playfair Display"/>
              <a:sym typeface="Playfair Display"/>
            </a:endParaRPr>
          </a:p>
        </p:txBody>
      </p:sp>
      <p:cxnSp>
        <p:nvCxnSpPr>
          <p:cNvPr id="337" name="Google Shape;337;p26"/>
          <p:cNvCxnSpPr/>
          <p:nvPr/>
        </p:nvCxnSpPr>
        <p:spPr>
          <a:xfrm>
            <a:off x="4267800" y="842850"/>
            <a:ext cx="608400" cy="0"/>
          </a:xfrm>
          <a:prstGeom prst="straightConnector1">
            <a:avLst/>
          </a:prstGeom>
          <a:noFill/>
          <a:ln cap="flat" cmpd="sng" w="9525">
            <a:solidFill>
              <a:schemeClr val="dk2"/>
            </a:solidFill>
            <a:prstDash val="solid"/>
            <a:round/>
            <a:headEnd len="sm" w="sm" type="none"/>
            <a:tailEnd len="sm" w="sm" type="none"/>
          </a:ln>
        </p:spPr>
      </p:cxnSp>
      <p:cxnSp>
        <p:nvCxnSpPr>
          <p:cNvPr id="338" name="Google Shape;338;p26"/>
          <p:cNvCxnSpPr/>
          <p:nvPr/>
        </p:nvCxnSpPr>
        <p:spPr>
          <a:xfrm>
            <a:off x="4267800" y="4707300"/>
            <a:ext cx="608400" cy="0"/>
          </a:xfrm>
          <a:prstGeom prst="straightConnector1">
            <a:avLst/>
          </a:prstGeom>
          <a:noFill/>
          <a:ln cap="flat" cmpd="sng" w="9525">
            <a:solidFill>
              <a:schemeClr val="dk2"/>
            </a:solidFill>
            <a:prstDash val="solid"/>
            <a:round/>
            <a:headEnd len="sm" w="sm" type="none"/>
            <a:tailEnd len="sm" w="sm" type="none"/>
          </a:ln>
        </p:spPr>
      </p:cxnSp>
      <p:sp>
        <p:nvSpPr>
          <p:cNvPr id="339" name="Google Shape;339;p26"/>
          <p:cNvSpPr txBox="1"/>
          <p:nvPr/>
        </p:nvSpPr>
        <p:spPr>
          <a:xfrm>
            <a:off x="205950" y="1067800"/>
            <a:ext cx="8310600" cy="3475200"/>
          </a:xfrm>
          <a:prstGeom prst="rect">
            <a:avLst/>
          </a:prstGeom>
          <a:noFill/>
          <a:ln>
            <a:noFill/>
          </a:ln>
        </p:spPr>
        <p:txBody>
          <a:bodyPr anchorCtr="0" anchor="t" bIns="91425" lIns="91425" spcFirstLastPara="1" rIns="91425" wrap="square" tIns="91425">
            <a:noAutofit/>
          </a:bodyPr>
          <a:lstStyle/>
          <a:p>
            <a:pPr indent="0" lvl="0" marL="0" marR="0" rtl="0" algn="l">
              <a:lnSpc>
                <a:spcPct val="138000"/>
              </a:lnSpc>
              <a:spcBef>
                <a:spcPts val="0"/>
              </a:spcBef>
              <a:spcAft>
                <a:spcPts val="0"/>
              </a:spcAft>
              <a:buClr>
                <a:schemeClr val="dk1"/>
              </a:buClr>
              <a:buSzPts val="1100"/>
              <a:buFont typeface="Arial"/>
              <a:buNone/>
            </a:pPr>
            <a:r>
              <a:rPr b="0" i="0" lang="en" sz="1200" u="none" cap="none" strike="noStrike">
                <a:solidFill>
                  <a:srgbClr val="4C1130"/>
                </a:solidFill>
                <a:latin typeface="Merriweather"/>
                <a:ea typeface="Merriweather"/>
                <a:cs typeface="Merriweather"/>
                <a:sym typeface="Merriweather"/>
              </a:rPr>
              <a:t>Throughout the 14 months (Jan 2018 - Mar 2019) development, we have invested (in USD):</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38000"/>
              </a:lnSpc>
              <a:spcBef>
                <a:spcPts val="1600"/>
              </a:spcBef>
              <a:spcAft>
                <a:spcPts val="0"/>
              </a:spcAft>
              <a:buClr>
                <a:srgbClr val="4C1130"/>
              </a:buClr>
              <a:buSzPts val="1200"/>
              <a:buFont typeface="Merriweather"/>
              <a:buChar char="●"/>
            </a:pPr>
            <a:r>
              <a:rPr b="1" i="0" lang="en" sz="1200" u="none" cap="none" strike="noStrike">
                <a:solidFill>
                  <a:srgbClr val="4C1130"/>
                </a:solidFill>
                <a:latin typeface="Merriweather"/>
                <a:ea typeface="Merriweather"/>
                <a:cs typeface="Merriweather"/>
                <a:sym typeface="Merriweather"/>
              </a:rPr>
              <a:t>Team members cost (6 core team member)		</a:t>
            </a:r>
            <a:r>
              <a:rPr b="0" i="0" lang="en" sz="1200" u="none" cap="none" strike="noStrike">
                <a:solidFill>
                  <a:srgbClr val="4C1130"/>
                </a:solidFill>
                <a:latin typeface="Merriweather"/>
                <a:ea typeface="Merriweather"/>
                <a:cs typeface="Merriweather"/>
                <a:sym typeface="Merriweather"/>
              </a:rPr>
              <a:t>: $X/month x 14 months = $X</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38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1 Director (Writer and designer)</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38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1 Producer and Composer</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38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2 Artists</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38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2 Programmers</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38000"/>
              </a:lnSpc>
              <a:spcBef>
                <a:spcPts val="0"/>
              </a:spcBef>
              <a:spcAft>
                <a:spcPts val="0"/>
              </a:spcAft>
              <a:buClr>
                <a:srgbClr val="4C1130"/>
              </a:buClr>
              <a:buSzPts val="1200"/>
              <a:buFont typeface="Merriweather"/>
              <a:buChar char="●"/>
            </a:pPr>
            <a:r>
              <a:rPr b="1" i="0" lang="en" sz="1200" u="none" cap="none" strike="noStrike">
                <a:solidFill>
                  <a:srgbClr val="4C1130"/>
                </a:solidFill>
                <a:latin typeface="Merriweather"/>
                <a:ea typeface="Merriweather"/>
                <a:cs typeface="Merriweather"/>
                <a:sym typeface="Merriweather"/>
              </a:rPr>
              <a:t>Proofreader (Retainer based $X/month)			</a:t>
            </a:r>
            <a:r>
              <a:rPr b="0" i="0" lang="en" sz="1200" u="none" cap="none" strike="noStrike">
                <a:solidFill>
                  <a:srgbClr val="4C1130"/>
                </a:solidFill>
                <a:latin typeface="Merriweather"/>
                <a:ea typeface="Merriweather"/>
                <a:cs typeface="Merriweather"/>
                <a:sym typeface="Merriweather"/>
              </a:rPr>
              <a:t>: $X</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38000"/>
              </a:lnSpc>
              <a:spcBef>
                <a:spcPts val="0"/>
              </a:spcBef>
              <a:spcAft>
                <a:spcPts val="0"/>
              </a:spcAft>
              <a:buClr>
                <a:srgbClr val="4C1130"/>
              </a:buClr>
              <a:buSzPts val="1200"/>
              <a:buFont typeface="Merriweather"/>
              <a:buChar char="●"/>
            </a:pPr>
            <a:r>
              <a:rPr b="1" i="0" lang="en" sz="1200" u="none" cap="none" strike="noStrike">
                <a:solidFill>
                  <a:srgbClr val="4C1130"/>
                </a:solidFill>
                <a:latin typeface="Merriweather"/>
                <a:ea typeface="Merriweather"/>
                <a:cs typeface="Merriweather"/>
                <a:sym typeface="Merriweather"/>
              </a:rPr>
              <a:t>Tools and productions support cost				</a:t>
            </a:r>
            <a:r>
              <a:rPr b="0" i="0" lang="en" sz="1200" u="none" cap="none" strike="noStrike">
                <a:solidFill>
                  <a:srgbClr val="4C1130"/>
                </a:solidFill>
                <a:latin typeface="Merriweather"/>
                <a:ea typeface="Merriweather"/>
                <a:cs typeface="Merriweather"/>
                <a:sym typeface="Merriweather"/>
              </a:rPr>
              <a:t>: $X</a:t>
            </a:r>
            <a:endParaRPr b="0" i="0" sz="1200" u="none" cap="none" strike="noStrike">
              <a:solidFill>
                <a:srgbClr val="4C1130"/>
              </a:solidFill>
              <a:latin typeface="Merriweather"/>
              <a:ea typeface="Merriweather"/>
              <a:cs typeface="Merriweather"/>
              <a:sym typeface="Merriweather"/>
            </a:endParaRPr>
          </a:p>
          <a:p>
            <a:pPr indent="0" lvl="0" marL="3657600" marR="0" rtl="0" algn="l">
              <a:lnSpc>
                <a:spcPct val="138000"/>
              </a:lnSpc>
              <a:spcBef>
                <a:spcPts val="0"/>
              </a:spcBef>
              <a:spcAft>
                <a:spcPts val="0"/>
              </a:spcAft>
              <a:buClr>
                <a:schemeClr val="dk1"/>
              </a:buClr>
              <a:buSzPts val="1100"/>
              <a:buFont typeface="Arial"/>
              <a:buNone/>
            </a:pPr>
            <a:r>
              <a:rPr b="1" i="0" lang="en" sz="1200" u="none" cap="none" strike="noStrike">
                <a:solidFill>
                  <a:srgbClr val="4C1130"/>
                </a:solidFill>
                <a:latin typeface="Merriweather"/>
                <a:ea typeface="Merriweather"/>
                <a:cs typeface="Merriweather"/>
                <a:sym typeface="Merriweather"/>
              </a:rPr>
              <a:t>Total		: $X</a:t>
            </a:r>
            <a:endParaRPr b="1" i="0" sz="1200" u="none" cap="none" strike="noStrike">
              <a:solidFill>
                <a:srgbClr val="4C1130"/>
              </a:solidFill>
              <a:latin typeface="Merriweather"/>
              <a:ea typeface="Merriweather"/>
              <a:cs typeface="Merriweather"/>
              <a:sym typeface="Merriweather"/>
            </a:endParaRPr>
          </a:p>
          <a:p>
            <a:pPr indent="0" lvl="0" marL="0" marR="0" rtl="0" algn="l">
              <a:lnSpc>
                <a:spcPct val="115000"/>
              </a:lnSpc>
              <a:spcBef>
                <a:spcPts val="1600"/>
              </a:spcBef>
              <a:spcAft>
                <a:spcPts val="0"/>
              </a:spcAft>
              <a:buClr>
                <a:schemeClr val="dk1"/>
              </a:buClr>
              <a:buSzPts val="1100"/>
              <a:buFont typeface="Arial"/>
              <a:buNone/>
            </a:pPr>
            <a:r>
              <a:t/>
            </a:r>
            <a:endParaRPr b="0" i="0" sz="1200" u="none" cap="none" strike="noStrike">
              <a:solidFill>
                <a:srgbClr val="4C1130"/>
              </a:solidFill>
              <a:latin typeface="Merriweather"/>
              <a:ea typeface="Merriweather"/>
              <a:cs typeface="Merriweather"/>
              <a:sym typeface="Merriweather"/>
            </a:endParaRPr>
          </a:p>
          <a:p>
            <a:pPr indent="0" lvl="0" marL="0" marR="0" rtl="0" algn="just">
              <a:lnSpc>
                <a:spcPct val="150000"/>
              </a:lnSpc>
              <a:spcBef>
                <a:spcPts val="0"/>
              </a:spcBef>
              <a:spcAft>
                <a:spcPts val="0"/>
              </a:spcAft>
              <a:buClr>
                <a:srgbClr val="000000"/>
              </a:buClr>
              <a:buSzPts val="1200"/>
              <a:buFont typeface="Arial"/>
              <a:buNone/>
            </a:pPr>
            <a:r>
              <a:t/>
            </a:r>
            <a:endParaRPr b="0" i="0" sz="120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343" name="Shape 343"/>
        <p:cNvGrpSpPr/>
        <p:nvPr/>
      </p:nvGrpSpPr>
      <p:grpSpPr>
        <a:xfrm>
          <a:off x="0" y="0"/>
          <a:ext cx="0" cy="0"/>
          <a:chOff x="0" y="0"/>
          <a:chExt cx="0" cy="0"/>
        </a:xfrm>
      </p:grpSpPr>
      <p:sp>
        <p:nvSpPr>
          <p:cNvPr id="344" name="Google Shape;344;p27"/>
          <p:cNvSpPr txBox="1"/>
          <p:nvPr/>
        </p:nvSpPr>
        <p:spPr>
          <a:xfrm>
            <a:off x="132150" y="329250"/>
            <a:ext cx="83844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Further Development Costs</a:t>
            </a:r>
            <a:endParaRPr b="0" i="1" sz="1800" u="none" cap="none" strike="noStrike">
              <a:solidFill>
                <a:srgbClr val="660000"/>
              </a:solidFill>
              <a:latin typeface="Playfair Display"/>
              <a:ea typeface="Playfair Display"/>
              <a:cs typeface="Playfair Display"/>
              <a:sym typeface="Playfair Display"/>
            </a:endParaRPr>
          </a:p>
        </p:txBody>
      </p:sp>
      <p:cxnSp>
        <p:nvCxnSpPr>
          <p:cNvPr id="345" name="Google Shape;345;p27"/>
          <p:cNvCxnSpPr/>
          <p:nvPr/>
        </p:nvCxnSpPr>
        <p:spPr>
          <a:xfrm>
            <a:off x="4267800" y="842850"/>
            <a:ext cx="608400" cy="0"/>
          </a:xfrm>
          <a:prstGeom prst="straightConnector1">
            <a:avLst/>
          </a:prstGeom>
          <a:noFill/>
          <a:ln cap="flat" cmpd="sng" w="9525">
            <a:solidFill>
              <a:schemeClr val="dk2"/>
            </a:solidFill>
            <a:prstDash val="solid"/>
            <a:round/>
            <a:headEnd len="sm" w="sm" type="none"/>
            <a:tailEnd len="sm" w="sm" type="none"/>
          </a:ln>
        </p:spPr>
      </p:cxnSp>
      <p:cxnSp>
        <p:nvCxnSpPr>
          <p:cNvPr id="346" name="Google Shape;346;p27"/>
          <p:cNvCxnSpPr/>
          <p:nvPr/>
        </p:nvCxnSpPr>
        <p:spPr>
          <a:xfrm>
            <a:off x="4267800" y="4707300"/>
            <a:ext cx="608400" cy="0"/>
          </a:xfrm>
          <a:prstGeom prst="straightConnector1">
            <a:avLst/>
          </a:prstGeom>
          <a:noFill/>
          <a:ln cap="flat" cmpd="sng" w="9525">
            <a:solidFill>
              <a:schemeClr val="dk2"/>
            </a:solidFill>
            <a:prstDash val="solid"/>
            <a:round/>
            <a:headEnd len="sm" w="sm" type="none"/>
            <a:tailEnd len="sm" w="sm" type="none"/>
          </a:ln>
        </p:spPr>
      </p:cxnSp>
      <p:sp>
        <p:nvSpPr>
          <p:cNvPr id="347" name="Google Shape;347;p27"/>
          <p:cNvSpPr txBox="1"/>
          <p:nvPr/>
        </p:nvSpPr>
        <p:spPr>
          <a:xfrm>
            <a:off x="205950" y="911400"/>
            <a:ext cx="8310600" cy="3631500"/>
          </a:xfrm>
          <a:prstGeom prst="rect">
            <a:avLst/>
          </a:prstGeom>
          <a:noFill/>
          <a:ln>
            <a:noFill/>
          </a:ln>
        </p:spPr>
        <p:txBody>
          <a:bodyPr anchorCtr="0" anchor="t" bIns="91425" lIns="91425" spcFirstLastPara="1" rIns="91425" wrap="square" tIns="91425">
            <a:noAutofit/>
          </a:bodyPr>
          <a:lstStyle/>
          <a:p>
            <a:pPr indent="-304800" lvl="0" marL="457200" marR="0" rtl="0" algn="l">
              <a:lnSpc>
                <a:spcPct val="180000"/>
              </a:lnSpc>
              <a:spcBef>
                <a:spcPts val="0"/>
              </a:spcBef>
              <a:spcAft>
                <a:spcPts val="0"/>
              </a:spcAft>
              <a:buClr>
                <a:srgbClr val="4C1130"/>
              </a:buClr>
              <a:buSzPts val="1200"/>
              <a:buFont typeface="Merriweather"/>
              <a:buChar char="●"/>
            </a:pPr>
            <a:r>
              <a:rPr b="1" i="0" lang="en" sz="1200" u="none" cap="none" strike="noStrike">
                <a:solidFill>
                  <a:srgbClr val="4C1130"/>
                </a:solidFill>
                <a:latin typeface="Merriweather"/>
                <a:ea typeface="Merriweather"/>
                <a:cs typeface="Merriweather"/>
                <a:sym typeface="Merriweather"/>
              </a:rPr>
              <a:t>Development Spent (Jan 2018 - Mar 2019)								</a:t>
            </a:r>
            <a:r>
              <a:rPr b="0" i="0" lang="en" sz="1200" u="none" cap="none" strike="noStrike">
                <a:solidFill>
                  <a:srgbClr val="4C1130"/>
                </a:solidFill>
                <a:latin typeface="Merriweather"/>
                <a:ea typeface="Merriweather"/>
                <a:cs typeface="Merriweather"/>
                <a:sym typeface="Merriweather"/>
              </a:rPr>
              <a:t>: $X</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80000"/>
              </a:lnSpc>
              <a:spcBef>
                <a:spcPts val="0"/>
              </a:spcBef>
              <a:spcAft>
                <a:spcPts val="0"/>
              </a:spcAft>
              <a:buClr>
                <a:srgbClr val="4C1130"/>
              </a:buClr>
              <a:buSzPts val="1200"/>
              <a:buFont typeface="Merriweather"/>
              <a:buChar char="●"/>
            </a:pPr>
            <a:r>
              <a:rPr b="1" i="0" lang="en" sz="1200" u="none" cap="none" strike="noStrike">
                <a:solidFill>
                  <a:srgbClr val="4C1130"/>
                </a:solidFill>
                <a:latin typeface="Merriweather"/>
                <a:ea typeface="Merriweather"/>
                <a:cs typeface="Merriweather"/>
                <a:sym typeface="Merriweather"/>
              </a:rPr>
              <a:t>Team member cost until August 2019 ($X x 6 months)					</a:t>
            </a:r>
            <a:r>
              <a:rPr b="0" i="0" lang="en" sz="1200" u="none" cap="none" strike="noStrike">
                <a:solidFill>
                  <a:srgbClr val="4C1130"/>
                </a:solidFill>
                <a:latin typeface="Merriweather"/>
                <a:ea typeface="Merriweather"/>
                <a:cs typeface="Merriweather"/>
                <a:sym typeface="Merriweather"/>
              </a:rPr>
              <a:t>: $X</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The time range includes testing, bug fixing, polish, maintenance</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80000"/>
              </a:lnSpc>
              <a:spcBef>
                <a:spcPts val="0"/>
              </a:spcBef>
              <a:spcAft>
                <a:spcPts val="0"/>
              </a:spcAft>
              <a:buClr>
                <a:srgbClr val="4C1130"/>
              </a:buClr>
              <a:buSzPts val="1200"/>
              <a:buFont typeface="Merriweather"/>
              <a:buChar char="●"/>
            </a:pPr>
            <a:r>
              <a:rPr b="1" i="0" lang="en" sz="1200" u="none" cap="none" strike="noStrike">
                <a:solidFill>
                  <a:srgbClr val="4C1130"/>
                </a:solidFill>
                <a:latin typeface="Merriweather"/>
                <a:ea typeface="Merriweather"/>
                <a:cs typeface="Merriweather"/>
                <a:sym typeface="Merriweather"/>
              </a:rPr>
              <a:t>Localization (DE, FR, JP, Simplified CH, Traditional CH, KR)					</a:t>
            </a:r>
            <a:r>
              <a:rPr b="0" i="0" lang="en" sz="1200" u="none" cap="none" strike="noStrike">
                <a:solidFill>
                  <a:srgbClr val="4C1130"/>
                </a:solidFill>
                <a:latin typeface="Merriweather"/>
                <a:ea typeface="Merriweather"/>
                <a:cs typeface="Merriweather"/>
                <a:sym typeface="Merriweather"/>
              </a:rPr>
              <a:t>: $X</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$X (cost per word) x 50.000 (number of words projected) x 6 (languages)</a:t>
            </a:r>
            <a:endParaRPr b="0" i="0" sz="1200" u="none" cap="none" strike="noStrike">
              <a:solidFill>
                <a:srgbClr val="4C1130"/>
              </a:solidFill>
              <a:latin typeface="Merriweather"/>
              <a:ea typeface="Merriweather"/>
              <a:cs typeface="Merriweather"/>
              <a:sym typeface="Merriweather"/>
            </a:endParaRPr>
          </a:p>
          <a:p>
            <a:pPr indent="-304800" lvl="0" marL="457200" marR="0" rtl="0" algn="l">
              <a:lnSpc>
                <a:spcPct val="180000"/>
              </a:lnSpc>
              <a:spcBef>
                <a:spcPts val="0"/>
              </a:spcBef>
              <a:spcAft>
                <a:spcPts val="0"/>
              </a:spcAft>
              <a:buClr>
                <a:srgbClr val="4C1130"/>
              </a:buClr>
              <a:buSzPts val="1200"/>
              <a:buFont typeface="Merriweather"/>
              <a:buChar char="●"/>
            </a:pPr>
            <a:r>
              <a:rPr b="1" i="0" lang="en" sz="1200" u="none" cap="none" strike="noStrike">
                <a:solidFill>
                  <a:srgbClr val="4C1130"/>
                </a:solidFill>
                <a:latin typeface="Merriweather"/>
                <a:ea typeface="Merriweather"/>
                <a:cs typeface="Merriweather"/>
                <a:sym typeface="Merriweather"/>
              </a:rPr>
              <a:t>Post Launch Updates &amp; DLC (Additional Story &amp; Feature)					</a:t>
            </a:r>
            <a:r>
              <a:rPr b="0" i="0" lang="en" sz="1200" u="none" cap="none" strike="noStrike">
                <a:solidFill>
                  <a:srgbClr val="4C1130"/>
                </a:solidFill>
                <a:latin typeface="Merriweather"/>
                <a:ea typeface="Merriweather"/>
                <a:cs typeface="Merriweather"/>
                <a:sym typeface="Merriweather"/>
              </a:rPr>
              <a:t>: $X</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1st DLC ($X x 3 months) + Localization ($X estimated)</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2st DLC ($X x 3 months) + Localization ($X estimated)</a:t>
            </a:r>
            <a:endParaRPr b="0" i="0" sz="1200" u="none" cap="none" strike="noStrike">
              <a:solidFill>
                <a:srgbClr val="4C1130"/>
              </a:solidFill>
              <a:latin typeface="Merriweather"/>
              <a:ea typeface="Merriweather"/>
              <a:cs typeface="Merriweather"/>
              <a:sym typeface="Merriweather"/>
            </a:endParaRPr>
          </a:p>
          <a:p>
            <a:pPr indent="-304800" lvl="1" marL="914400" marR="0" rtl="0" algn="l">
              <a:lnSpc>
                <a:spcPct val="180000"/>
              </a:lnSpc>
              <a:spcBef>
                <a:spcPts val="0"/>
              </a:spcBef>
              <a:spcAft>
                <a:spcPts val="0"/>
              </a:spcAft>
              <a:buClr>
                <a:srgbClr val="4C1130"/>
              </a:buClr>
              <a:buSzPts val="1200"/>
              <a:buFont typeface="Merriweather"/>
              <a:buChar char="○"/>
            </a:pPr>
            <a:r>
              <a:rPr b="0" i="0" lang="en" sz="1200" u="none" cap="none" strike="noStrike">
                <a:solidFill>
                  <a:srgbClr val="4C1130"/>
                </a:solidFill>
                <a:latin typeface="Merriweather"/>
                <a:ea typeface="Merriweather"/>
                <a:cs typeface="Merriweather"/>
                <a:sym typeface="Merriweather"/>
              </a:rPr>
              <a:t>3st DLC ($X x 3 months) + Localization ($X estimated)</a:t>
            </a:r>
            <a:endParaRPr b="0" i="0" sz="1200" u="none" cap="none" strike="noStrike">
              <a:solidFill>
                <a:srgbClr val="4C1130"/>
              </a:solidFill>
              <a:latin typeface="Merriweather"/>
              <a:ea typeface="Merriweather"/>
              <a:cs typeface="Merriweather"/>
              <a:sym typeface="Merriweather"/>
            </a:endParaRPr>
          </a:p>
          <a:p>
            <a:pPr indent="457200" lvl="0" marL="5486400" marR="0" rtl="0" algn="l">
              <a:lnSpc>
                <a:spcPct val="180000"/>
              </a:lnSpc>
              <a:spcBef>
                <a:spcPts val="1600"/>
              </a:spcBef>
              <a:spcAft>
                <a:spcPts val="1600"/>
              </a:spcAft>
              <a:buClr>
                <a:srgbClr val="000000"/>
              </a:buClr>
              <a:buSzPts val="1400"/>
              <a:buFont typeface="Arial"/>
              <a:buNone/>
            </a:pPr>
            <a:r>
              <a:rPr b="1" i="0" lang="en" sz="1400" u="none" cap="none" strike="noStrike">
                <a:solidFill>
                  <a:srgbClr val="4C1130"/>
                </a:solidFill>
                <a:latin typeface="Merriweather"/>
                <a:ea typeface="Merriweather"/>
                <a:cs typeface="Merriweather"/>
                <a:sym typeface="Merriweather"/>
              </a:rPr>
              <a:t>Total	: $X</a:t>
            </a:r>
            <a:endParaRPr b="1" i="0" sz="1400" u="none" cap="none" strike="noStrike">
              <a:solidFill>
                <a:srgbClr val="4C1130"/>
              </a:solidFill>
              <a:latin typeface="Merriweather"/>
              <a:ea typeface="Merriweather"/>
              <a:cs typeface="Merriweather"/>
              <a:sym typeface="Merriweather"/>
            </a:endParaRPr>
          </a:p>
        </p:txBody>
      </p:sp>
      <p:sp>
        <p:nvSpPr>
          <p:cNvPr id="348" name="Google Shape;348;p27"/>
          <p:cNvSpPr/>
          <p:nvPr/>
        </p:nvSpPr>
        <p:spPr>
          <a:xfrm>
            <a:off x="205950" y="4113350"/>
            <a:ext cx="2929800" cy="949800"/>
          </a:xfrm>
          <a:prstGeom prst="roundRect">
            <a:avLst>
              <a:gd fmla="val 16667" name="adj"/>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800"/>
              <a:buFont typeface="Arial"/>
              <a:buNone/>
            </a:pPr>
            <a:r>
              <a:rPr b="1" i="0" lang="en" sz="800" u="none" cap="none" strike="noStrike">
                <a:solidFill>
                  <a:srgbClr val="000000"/>
                </a:solidFill>
                <a:latin typeface="Arial"/>
                <a:ea typeface="Arial"/>
                <a:cs typeface="Arial"/>
                <a:sym typeface="Arial"/>
              </a:rPr>
              <a:t>Dev Notes:</a:t>
            </a:r>
            <a:endParaRPr b="1" i="0" sz="800" u="none" cap="none" strike="noStrike">
              <a:solidFill>
                <a:srgbClr val="000000"/>
              </a:solidFill>
              <a:latin typeface="Arial"/>
              <a:ea typeface="Arial"/>
              <a:cs typeface="Arial"/>
              <a:sym typeface="Arial"/>
            </a:endParaRPr>
          </a:p>
          <a:p>
            <a:pPr indent="-165100" lvl="0" marL="228600" marR="0" rtl="0" algn="l">
              <a:lnSpc>
                <a:spcPct val="100000"/>
              </a:lnSpc>
              <a:spcBef>
                <a:spcPts val="0"/>
              </a:spcBef>
              <a:spcAft>
                <a:spcPts val="0"/>
              </a:spcAft>
              <a:buClr>
                <a:srgbClr val="000000"/>
              </a:buClr>
              <a:buSzPts val="800"/>
              <a:buFont typeface="Arial"/>
              <a:buChar char="●"/>
            </a:pPr>
            <a:r>
              <a:rPr b="0" i="0" lang="en" sz="800" u="none" cap="none" strike="noStrike">
                <a:solidFill>
                  <a:srgbClr val="000000"/>
                </a:solidFill>
                <a:latin typeface="Arial"/>
                <a:ea typeface="Arial"/>
                <a:cs typeface="Arial"/>
                <a:sym typeface="Arial"/>
              </a:rPr>
              <a:t>The Post Launch Updates &amp; DLC was canceled and would eventually changed into the development of Coffee Talk Episode 2, a stand alone sequel.</a:t>
            </a:r>
            <a:endParaRPr b="0" i="0" sz="800" u="none" cap="none" strike="noStrike">
              <a:solidFill>
                <a:srgbClr val="000000"/>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352" name="Shape 352"/>
        <p:cNvGrpSpPr/>
        <p:nvPr/>
      </p:nvGrpSpPr>
      <p:grpSpPr>
        <a:xfrm>
          <a:off x="0" y="0"/>
          <a:ext cx="0" cy="0"/>
          <a:chOff x="0" y="0"/>
          <a:chExt cx="0" cy="0"/>
        </a:xfrm>
      </p:grpSpPr>
      <p:pic>
        <p:nvPicPr>
          <p:cNvPr id="353" name="Google Shape;353;p28"/>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354" name="Google Shape;354;p28"/>
          <p:cNvSpPr txBox="1"/>
          <p:nvPr/>
        </p:nvSpPr>
        <p:spPr>
          <a:xfrm>
            <a:off x="2095100" y="4093150"/>
            <a:ext cx="49446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The Ask</a:t>
            </a:r>
            <a:endParaRPr b="0" i="1" sz="2400" u="none" cap="none" strike="noStrike">
              <a:solidFill>
                <a:srgbClr val="660000"/>
              </a:solidFill>
              <a:latin typeface="Playfair Display"/>
              <a:ea typeface="Playfair Display"/>
              <a:cs typeface="Playfair Display"/>
              <a:sym typeface="Playfair Display"/>
            </a:endParaRPr>
          </a:p>
        </p:txBody>
      </p:sp>
      <p:sp>
        <p:nvSpPr>
          <p:cNvPr id="355" name="Google Shape;355;p28"/>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56" name="Google Shape;356;p28"/>
          <p:cNvPicPr preferRelativeResize="0"/>
          <p:nvPr/>
        </p:nvPicPr>
        <p:blipFill rotWithShape="1">
          <a:blip r:embed="rId4">
            <a:alphaModFix/>
          </a:blip>
          <a:srcRect b="0" l="0" r="0" t="0"/>
          <a:stretch/>
        </p:blipFill>
        <p:spPr>
          <a:xfrm>
            <a:off x="4262600" y="3277950"/>
            <a:ext cx="609600" cy="60960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360" name="Shape 360"/>
        <p:cNvGrpSpPr/>
        <p:nvPr/>
      </p:nvGrpSpPr>
      <p:grpSpPr>
        <a:xfrm>
          <a:off x="0" y="0"/>
          <a:ext cx="0" cy="0"/>
          <a:chOff x="0" y="0"/>
          <a:chExt cx="0" cy="0"/>
        </a:xfrm>
      </p:grpSpPr>
      <p:sp>
        <p:nvSpPr>
          <p:cNvPr id="361" name="Google Shape;361;p29"/>
          <p:cNvSpPr txBox="1"/>
          <p:nvPr/>
        </p:nvSpPr>
        <p:spPr>
          <a:xfrm>
            <a:off x="500575" y="365375"/>
            <a:ext cx="8384400" cy="51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800"/>
              <a:buFont typeface="Arial"/>
              <a:buNone/>
            </a:pPr>
            <a:r>
              <a:rPr b="0" i="1" lang="en" sz="1800" u="none" cap="none" strike="noStrike">
                <a:solidFill>
                  <a:srgbClr val="660000"/>
                </a:solidFill>
                <a:latin typeface="Playfair Display"/>
                <a:ea typeface="Playfair Display"/>
                <a:cs typeface="Playfair Display"/>
                <a:sym typeface="Playfair Display"/>
              </a:rPr>
              <a:t>What we are looking forx</a:t>
            </a:r>
            <a:endParaRPr b="0" i="1" sz="1800" u="none" cap="none" strike="noStrike">
              <a:solidFill>
                <a:srgbClr val="660000"/>
              </a:solidFill>
              <a:latin typeface="Playfair Display"/>
              <a:ea typeface="Playfair Display"/>
              <a:cs typeface="Playfair Display"/>
              <a:sym typeface="Playfair Display"/>
            </a:endParaRPr>
          </a:p>
        </p:txBody>
      </p:sp>
      <p:cxnSp>
        <p:nvCxnSpPr>
          <p:cNvPr id="362" name="Google Shape;362;p29"/>
          <p:cNvCxnSpPr/>
          <p:nvPr/>
        </p:nvCxnSpPr>
        <p:spPr>
          <a:xfrm>
            <a:off x="4267800" y="842850"/>
            <a:ext cx="608400" cy="0"/>
          </a:xfrm>
          <a:prstGeom prst="straightConnector1">
            <a:avLst/>
          </a:prstGeom>
          <a:noFill/>
          <a:ln cap="flat" cmpd="sng" w="9525">
            <a:solidFill>
              <a:schemeClr val="dk2"/>
            </a:solidFill>
            <a:prstDash val="solid"/>
            <a:round/>
            <a:headEnd len="sm" w="sm" type="none"/>
            <a:tailEnd len="sm" w="sm" type="none"/>
          </a:ln>
        </p:spPr>
      </p:cxnSp>
      <p:cxnSp>
        <p:nvCxnSpPr>
          <p:cNvPr id="363" name="Google Shape;363;p29"/>
          <p:cNvCxnSpPr/>
          <p:nvPr/>
        </p:nvCxnSpPr>
        <p:spPr>
          <a:xfrm>
            <a:off x="4267800" y="4707300"/>
            <a:ext cx="608400" cy="0"/>
          </a:xfrm>
          <a:prstGeom prst="straightConnector1">
            <a:avLst/>
          </a:prstGeom>
          <a:noFill/>
          <a:ln cap="flat" cmpd="sng" w="9525">
            <a:solidFill>
              <a:schemeClr val="dk2"/>
            </a:solidFill>
            <a:prstDash val="solid"/>
            <a:round/>
            <a:headEnd len="sm" w="sm" type="none"/>
            <a:tailEnd len="sm" w="sm" type="none"/>
          </a:ln>
        </p:spPr>
      </p:cxnSp>
      <p:sp>
        <p:nvSpPr>
          <p:cNvPr id="364" name="Google Shape;364;p29"/>
          <p:cNvSpPr txBox="1"/>
          <p:nvPr/>
        </p:nvSpPr>
        <p:spPr>
          <a:xfrm>
            <a:off x="205950" y="911400"/>
            <a:ext cx="8310600" cy="36315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180000"/>
              </a:lnSpc>
              <a:spcBef>
                <a:spcPts val="0"/>
              </a:spcBef>
              <a:spcAft>
                <a:spcPts val="0"/>
              </a:spcAft>
              <a:buClr>
                <a:srgbClr val="4C1130"/>
              </a:buClr>
              <a:buSzPts val="1400"/>
              <a:buFont typeface="Merriweather"/>
              <a:buChar char="●"/>
            </a:pPr>
            <a:r>
              <a:rPr b="1" i="0" lang="en" sz="1400" u="none" cap="none" strike="noStrike">
                <a:solidFill>
                  <a:srgbClr val="4C1130"/>
                </a:solidFill>
                <a:latin typeface="Merriweather"/>
                <a:ea typeface="Merriweather"/>
                <a:cs typeface="Merriweather"/>
                <a:sym typeface="Merriweather"/>
              </a:rPr>
              <a:t>Dev Funding</a:t>
            </a:r>
            <a:endParaRPr b="1" i="0" sz="1400" u="none" cap="none" strike="noStrike">
              <a:solidFill>
                <a:srgbClr val="4C1130"/>
              </a:solidFill>
              <a:latin typeface="Merriweather"/>
              <a:ea typeface="Merriweather"/>
              <a:cs typeface="Merriweather"/>
              <a:sym typeface="Merriweather"/>
            </a:endParaRPr>
          </a:p>
          <a:p>
            <a:pPr indent="-317500" lvl="0" marL="457200" marR="0" rtl="0" algn="l">
              <a:lnSpc>
                <a:spcPct val="180000"/>
              </a:lnSpc>
              <a:spcBef>
                <a:spcPts val="0"/>
              </a:spcBef>
              <a:spcAft>
                <a:spcPts val="0"/>
              </a:spcAft>
              <a:buClr>
                <a:srgbClr val="4C1130"/>
              </a:buClr>
              <a:buSzPts val="1400"/>
              <a:buFont typeface="Merriweather"/>
              <a:buChar char="●"/>
            </a:pPr>
            <a:r>
              <a:rPr b="1" i="0" lang="en" sz="1400" u="none" cap="none" strike="noStrike">
                <a:solidFill>
                  <a:srgbClr val="4C1130"/>
                </a:solidFill>
                <a:latin typeface="Merriweather"/>
                <a:ea typeface="Merriweather"/>
                <a:cs typeface="Merriweather"/>
                <a:sym typeface="Merriweather"/>
              </a:rPr>
              <a:t>Console Porting &amp; Physical Distribution</a:t>
            </a:r>
            <a:endParaRPr b="1" i="0" sz="1400" u="none" cap="none" strike="noStrike">
              <a:solidFill>
                <a:srgbClr val="4C1130"/>
              </a:solidFill>
              <a:latin typeface="Merriweather"/>
              <a:ea typeface="Merriweather"/>
              <a:cs typeface="Merriweather"/>
              <a:sym typeface="Merriweather"/>
            </a:endParaRPr>
          </a:p>
          <a:p>
            <a:pPr indent="-317500" lvl="0" marL="457200" marR="0" rtl="0" algn="l">
              <a:lnSpc>
                <a:spcPct val="180000"/>
              </a:lnSpc>
              <a:spcBef>
                <a:spcPts val="0"/>
              </a:spcBef>
              <a:spcAft>
                <a:spcPts val="0"/>
              </a:spcAft>
              <a:buClr>
                <a:srgbClr val="4C1130"/>
              </a:buClr>
              <a:buSzPts val="1400"/>
              <a:buFont typeface="Merriweather"/>
              <a:buChar char="●"/>
            </a:pPr>
            <a:r>
              <a:rPr b="1" i="0" lang="en" sz="1400" u="none" cap="none" strike="noStrike">
                <a:solidFill>
                  <a:srgbClr val="4C1130"/>
                </a:solidFill>
                <a:latin typeface="Merriweather"/>
                <a:ea typeface="Merriweather"/>
                <a:cs typeface="Merriweather"/>
                <a:sym typeface="Merriweather"/>
              </a:rPr>
              <a:t>Marketing Support</a:t>
            </a:r>
            <a:endParaRPr b="1" i="0" sz="1400" u="none" cap="none" strike="noStrike">
              <a:solidFill>
                <a:srgbClr val="4C1130"/>
              </a:solidFill>
              <a:latin typeface="Merriweather"/>
              <a:ea typeface="Merriweather"/>
              <a:cs typeface="Merriweather"/>
              <a:sym typeface="Merriweather"/>
            </a:endParaRPr>
          </a:p>
          <a:p>
            <a:pPr indent="-317500" lvl="0" marL="457200" marR="0" rtl="0" algn="l">
              <a:lnSpc>
                <a:spcPct val="180000"/>
              </a:lnSpc>
              <a:spcBef>
                <a:spcPts val="0"/>
              </a:spcBef>
              <a:spcAft>
                <a:spcPts val="0"/>
              </a:spcAft>
              <a:buClr>
                <a:srgbClr val="4C1130"/>
              </a:buClr>
              <a:buSzPts val="1400"/>
              <a:buFont typeface="Merriweather"/>
              <a:buChar char="●"/>
            </a:pPr>
            <a:r>
              <a:rPr b="1" i="0" lang="en" sz="1400" u="none" cap="none" strike="noStrike">
                <a:solidFill>
                  <a:srgbClr val="4C1130"/>
                </a:solidFill>
                <a:latin typeface="Merriweather"/>
                <a:ea typeface="Merriweather"/>
                <a:cs typeface="Merriweather"/>
                <a:sym typeface="Merriweather"/>
              </a:rPr>
              <a:t>etc.</a:t>
            </a:r>
            <a:endParaRPr b="1" i="0" sz="1400" u="none" cap="none" strike="noStrike">
              <a:solidFill>
                <a:srgbClr val="4C1130"/>
              </a:solidFill>
              <a:latin typeface="Merriweather"/>
              <a:ea typeface="Merriweather"/>
              <a:cs typeface="Merriweather"/>
              <a:sym typeface="Merriweathe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7F2E5"/>
        </a:solidFill>
      </p:bgPr>
    </p:bg>
    <p:spTree>
      <p:nvGrpSpPr>
        <p:cNvPr id="368" name="Shape 368"/>
        <p:cNvGrpSpPr/>
        <p:nvPr/>
      </p:nvGrpSpPr>
      <p:grpSpPr>
        <a:xfrm>
          <a:off x="0" y="0"/>
          <a:ext cx="0" cy="0"/>
          <a:chOff x="0" y="0"/>
          <a:chExt cx="0" cy="0"/>
        </a:xfrm>
      </p:grpSpPr>
      <p:pic>
        <p:nvPicPr>
          <p:cNvPr id="369" name="Google Shape;369;p30"/>
          <p:cNvPicPr preferRelativeResize="0"/>
          <p:nvPr/>
        </p:nvPicPr>
        <p:blipFill rotWithShape="1">
          <a:blip r:embed="rId3">
            <a:alphaModFix/>
          </a:blip>
          <a:srcRect b="0" l="0" r="0" t="0"/>
          <a:stretch/>
        </p:blipFill>
        <p:spPr>
          <a:xfrm>
            <a:off x="0" y="0"/>
            <a:ext cx="9144000" cy="3657600"/>
          </a:xfrm>
          <a:prstGeom prst="rect">
            <a:avLst/>
          </a:prstGeom>
          <a:noFill/>
          <a:ln>
            <a:noFill/>
          </a:ln>
        </p:spPr>
      </p:pic>
      <p:sp>
        <p:nvSpPr>
          <p:cNvPr id="370" name="Google Shape;370;p30"/>
          <p:cNvSpPr txBox="1"/>
          <p:nvPr/>
        </p:nvSpPr>
        <p:spPr>
          <a:xfrm>
            <a:off x="261900" y="4045250"/>
            <a:ext cx="8589900" cy="9855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400"/>
              <a:buFont typeface="Arial"/>
              <a:buNone/>
            </a:pPr>
            <a:r>
              <a:rPr b="0" i="1" lang="en" sz="2400" u="none" cap="none" strike="noStrike">
                <a:solidFill>
                  <a:srgbClr val="660000"/>
                </a:solidFill>
                <a:latin typeface="Playfair Display"/>
                <a:ea typeface="Playfair Display"/>
                <a:cs typeface="Playfair Display"/>
                <a:sym typeface="Playfair Display"/>
              </a:rPr>
              <a:t>Got any question?</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660000"/>
                </a:solidFill>
                <a:latin typeface="Times New Roman"/>
                <a:ea typeface="Times New Roman"/>
                <a:cs typeface="Times New Roman"/>
                <a:sym typeface="Times New Roman"/>
              </a:rPr>
              <a:t>Contact </a:t>
            </a:r>
            <a:r>
              <a:rPr b="0" i="0" lang="en" sz="1800" u="sng" cap="none" strike="noStrike">
                <a:solidFill>
                  <a:schemeClr val="hlink"/>
                </a:solidFill>
                <a:latin typeface="Times New Roman"/>
                <a:ea typeface="Times New Roman"/>
                <a:cs typeface="Times New Roman"/>
                <a:sym typeface="Times New Roman"/>
                <a:hlinkClick r:id="rId4"/>
              </a:rPr>
              <a:t>kris@togeproductions.com</a:t>
            </a:r>
            <a:r>
              <a:rPr b="0" i="0" lang="en" sz="1800" u="none" cap="none" strike="noStrike">
                <a:solidFill>
                  <a:srgbClr val="660000"/>
                </a:solidFill>
                <a:latin typeface="Times New Roman"/>
                <a:ea typeface="Times New Roman"/>
                <a:cs typeface="Times New Roman"/>
                <a:sym typeface="Times New Roman"/>
              </a:rPr>
              <a:t> or </a:t>
            </a:r>
            <a:r>
              <a:rPr b="0" i="0" lang="en" sz="1800" u="sng" cap="none" strike="noStrike">
                <a:solidFill>
                  <a:schemeClr val="hlink"/>
                </a:solidFill>
                <a:latin typeface="Times New Roman"/>
                <a:ea typeface="Times New Roman"/>
                <a:cs typeface="Times New Roman"/>
                <a:sym typeface="Times New Roman"/>
                <a:hlinkClick r:id="rId5"/>
              </a:rPr>
              <a:t>publishing@togeproductions.com</a:t>
            </a:r>
            <a:r>
              <a:rPr b="0" i="0" lang="en" sz="1800" u="none" cap="none" strike="noStrike">
                <a:solidFill>
                  <a:srgbClr val="660000"/>
                </a:solidFill>
                <a:latin typeface="Times New Roman"/>
                <a:ea typeface="Times New Roman"/>
                <a:cs typeface="Times New Roman"/>
                <a:sym typeface="Times New Roman"/>
              </a:rPr>
              <a:t> for more info</a:t>
            </a:r>
            <a:endParaRPr b="0" i="0" sz="1800" u="none" cap="none" strike="noStrike">
              <a:solidFill>
                <a:srgbClr val="660000"/>
              </a:solidFill>
              <a:latin typeface="Times New Roman"/>
              <a:ea typeface="Times New Roman"/>
              <a:cs typeface="Times New Roman"/>
              <a:sym typeface="Times New Roman"/>
            </a:endParaRPr>
          </a:p>
          <a:p>
            <a:pPr indent="0" lvl="0" marL="0" marR="0" rtl="0" algn="ctr">
              <a:lnSpc>
                <a:spcPct val="100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a:p>
            <a:pPr indent="0" lvl="0" marL="0" marR="0" rtl="0" algn="ctr">
              <a:lnSpc>
                <a:spcPct val="100000"/>
              </a:lnSpc>
              <a:spcBef>
                <a:spcPts val="0"/>
              </a:spcBef>
              <a:spcAft>
                <a:spcPts val="0"/>
              </a:spcAft>
              <a:buClr>
                <a:srgbClr val="000000"/>
              </a:buClr>
              <a:buSzPts val="2400"/>
              <a:buFont typeface="Arial"/>
              <a:buNone/>
            </a:pPr>
            <a:r>
              <a:t/>
            </a:r>
            <a:endParaRPr b="0" i="1" sz="2400" u="none" cap="none" strike="noStrike">
              <a:solidFill>
                <a:srgbClr val="660000"/>
              </a:solidFill>
              <a:latin typeface="Playfair Display"/>
              <a:ea typeface="Playfair Display"/>
              <a:cs typeface="Playfair Display"/>
              <a:sym typeface="Playfair Display"/>
            </a:endParaRPr>
          </a:p>
        </p:txBody>
      </p:sp>
      <p:sp>
        <p:nvSpPr>
          <p:cNvPr id="371" name="Google Shape;371;p30"/>
          <p:cNvSpPr/>
          <p:nvPr/>
        </p:nvSpPr>
        <p:spPr>
          <a:xfrm>
            <a:off x="4079250" y="3090000"/>
            <a:ext cx="985500" cy="985500"/>
          </a:xfrm>
          <a:prstGeom prst="ellipse">
            <a:avLst/>
          </a:prstGeom>
          <a:solidFill>
            <a:schemeClr val="accent2"/>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72" name="Google Shape;372;p30"/>
          <p:cNvPicPr preferRelativeResize="0"/>
          <p:nvPr/>
        </p:nvPicPr>
        <p:blipFill rotWithShape="1">
          <a:blip r:embed="rId6">
            <a:alphaModFix/>
          </a:blip>
          <a:srcRect b="0" l="0" r="0" t="0"/>
          <a:stretch/>
        </p:blipFill>
        <p:spPr>
          <a:xfrm>
            <a:off x="4357288" y="3368037"/>
            <a:ext cx="429425" cy="42942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